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256" r:id="rId5"/>
    <p:sldId id="257" r:id="rId6"/>
    <p:sldId id="258" r:id="rId7"/>
    <p:sldId id="259" r:id="rId8"/>
    <p:sldId id="260" r:id="rId9"/>
    <p:sldId id="261" r:id="rId10"/>
    <p:sldId id="263" r:id="rId11"/>
    <p:sldId id="264" r:id="rId12"/>
    <p:sldId id="265" r:id="rId13"/>
    <p:sldId id="269" r:id="rId14"/>
    <p:sldId id="266" r:id="rId15"/>
    <p:sldId id="267" r:id="rId16"/>
    <p:sldId id="262" r:id="rId17"/>
    <p:sldId id="270"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C2D3C0-CAA7-3A00-CB5C-9B3CA8413708}" v="69" dt="2026-07-07T22:43:55.9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irrimery" userId="S::swirrimery_gmail.com#ext#@technology4dev.onmicrosoft.com::4899a4fc-10e6-4f95-8ad5-a3ee7950a7f6" providerId="AD" clId="Web-{CFC2D3C0-CAA7-3A00-CB5C-9B3CA8413708}"/>
    <pc:docChg chg="modSld">
      <pc:chgData name="Swirrimery" userId="S::swirrimery_gmail.com#ext#@technology4dev.onmicrosoft.com::4899a4fc-10e6-4f95-8ad5-a3ee7950a7f6" providerId="AD" clId="Web-{CFC2D3C0-CAA7-3A00-CB5C-9B3CA8413708}" dt="2026-07-07T22:43:55.968" v="64" actId="20577"/>
      <pc:docMkLst>
        <pc:docMk/>
      </pc:docMkLst>
      <pc:sldChg chg="modSp">
        <pc:chgData name="Swirrimery" userId="S::swirrimery_gmail.com#ext#@technology4dev.onmicrosoft.com::4899a4fc-10e6-4f95-8ad5-a3ee7950a7f6" providerId="AD" clId="Web-{CFC2D3C0-CAA7-3A00-CB5C-9B3CA8413708}" dt="2026-07-07T22:42:43.672" v="41"/>
        <pc:sldMkLst>
          <pc:docMk/>
          <pc:sldMk cId="0" sldId="262"/>
        </pc:sldMkLst>
        <pc:graphicFrameChg chg="mod modGraphic">
          <ac:chgData name="Swirrimery" userId="S::swirrimery_gmail.com#ext#@technology4dev.onmicrosoft.com::4899a4fc-10e6-4f95-8ad5-a3ee7950a7f6" providerId="AD" clId="Web-{CFC2D3C0-CAA7-3A00-CB5C-9B3CA8413708}" dt="2026-07-07T22:42:43.672" v="41"/>
          <ac:graphicFrameMkLst>
            <pc:docMk/>
            <pc:sldMk cId="0" sldId="262"/>
            <ac:graphicFrameMk id="4" creationId="{00000000-0000-0000-0000-000000000000}"/>
          </ac:graphicFrameMkLst>
        </pc:graphicFrameChg>
      </pc:sldChg>
      <pc:sldChg chg="modSp">
        <pc:chgData name="Swirrimery" userId="S::swirrimery_gmail.com#ext#@technology4dev.onmicrosoft.com::4899a4fc-10e6-4f95-8ad5-a3ee7950a7f6" providerId="AD" clId="Web-{CFC2D3C0-CAA7-3A00-CB5C-9B3CA8413708}" dt="2026-07-07T22:43:55.968" v="64" actId="20577"/>
        <pc:sldMkLst>
          <pc:docMk/>
          <pc:sldMk cId="0" sldId="267"/>
        </pc:sldMkLst>
        <pc:spChg chg="mod">
          <ac:chgData name="Swirrimery" userId="S::swirrimery_gmail.com#ext#@technology4dev.onmicrosoft.com::4899a4fc-10e6-4f95-8ad5-a3ee7950a7f6" providerId="AD" clId="Web-{CFC2D3C0-CAA7-3A00-CB5C-9B3CA8413708}" dt="2026-07-07T22:43:40.859" v="63" actId="1076"/>
          <ac:spMkLst>
            <pc:docMk/>
            <pc:sldMk cId="0" sldId="267"/>
            <ac:spMk id="2" creationId="{00000000-0000-0000-0000-000000000000}"/>
          </ac:spMkLst>
        </pc:spChg>
        <pc:spChg chg="mod">
          <ac:chgData name="Swirrimery" userId="S::swirrimery_gmail.com#ext#@technology4dev.onmicrosoft.com::4899a4fc-10e6-4f95-8ad5-a3ee7950a7f6" providerId="AD" clId="Web-{CFC2D3C0-CAA7-3A00-CB5C-9B3CA8413708}" dt="2026-07-07T22:43:55.968" v="64" actId="20577"/>
          <ac:spMkLst>
            <pc:docMk/>
            <pc:sldMk cId="0" sldId="267"/>
            <ac:spMk id="5" creationId="{00000000-0000-0000-0000-000000000000}"/>
          </ac:spMkLst>
        </pc:spChg>
      </pc:sldChg>
      <pc:sldChg chg="modSp">
        <pc:chgData name="Swirrimery" userId="S::swirrimery_gmail.com#ext#@technology4dev.onmicrosoft.com::4899a4fc-10e6-4f95-8ad5-a3ee7950a7f6" providerId="AD" clId="Web-{CFC2D3C0-CAA7-3A00-CB5C-9B3CA8413708}" dt="2026-07-07T22:43:26.218" v="62"/>
        <pc:sldMkLst>
          <pc:docMk/>
          <pc:sldMk cId="0" sldId="270"/>
        </pc:sldMkLst>
        <pc:graphicFrameChg chg="mod modGraphic">
          <ac:chgData name="Swirrimery" userId="S::swirrimery_gmail.com#ext#@technology4dev.onmicrosoft.com::4899a4fc-10e6-4f95-8ad5-a3ee7950a7f6" providerId="AD" clId="Web-{CFC2D3C0-CAA7-3A00-CB5C-9B3CA8413708}" dt="2026-07-07T22:43:26.218" v="62"/>
          <ac:graphicFrameMkLst>
            <pc:docMk/>
            <pc:sldMk cId="0" sldId="270"/>
            <ac:graphicFrameMk id="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55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26"/>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F6F4A">
              <a:alpha val="22000"/>
            </a:srgbClr>
          </a:solidFill>
          <a:ln/>
        </p:spPr>
      </p:sp>
      <p:sp>
        <p:nvSpPr>
          <p:cNvPr id="3" name="Shape 1"/>
          <p:cNvSpPr/>
          <p:nvPr/>
        </p:nvSpPr>
        <p:spPr>
          <a:xfrm>
            <a:off x="-2377440" y="4023360"/>
            <a:ext cx="4754880" cy="4754880"/>
          </a:xfrm>
          <a:prstGeom prst="ellipse">
            <a:avLst/>
          </a:prstGeom>
          <a:solidFill>
            <a:srgbClr val="D98E30">
              <a:alpha val="15000"/>
            </a:srgbClr>
          </a:solidFill>
          <a:ln/>
        </p:spPr>
      </p:sp>
      <p:pic>
        <p:nvPicPr>
          <p:cNvPr id="4" name="Image 0" descr="icons/recycle_E0A458.png"/>
          <p:cNvPicPr>
            <a:picLocks noChangeAspect="1"/>
          </p:cNvPicPr>
          <p:nvPr/>
        </p:nvPicPr>
        <p:blipFill>
          <a:blip r:embed="rId3"/>
          <a:stretch>
            <a:fillRect/>
          </a:stretch>
        </p:blipFill>
        <p:spPr>
          <a:xfrm>
            <a:off x="777240" y="685800"/>
            <a:ext cx="502920" cy="502920"/>
          </a:xfrm>
          <a:prstGeom prst="rect">
            <a:avLst/>
          </a:prstGeom>
        </p:spPr>
      </p:pic>
      <p:sp>
        <p:nvSpPr>
          <p:cNvPr id="5" name="Text 2"/>
          <p:cNvSpPr/>
          <p:nvPr/>
        </p:nvSpPr>
        <p:spPr>
          <a:xfrm>
            <a:off x="1371600" y="713232"/>
            <a:ext cx="7315200" cy="457200"/>
          </a:xfrm>
          <a:prstGeom prst="rect">
            <a:avLst/>
          </a:prstGeom>
          <a:noFill/>
          <a:ln/>
        </p:spPr>
        <p:txBody>
          <a:bodyPr wrap="square" rtlCol="0" anchor="ctr"/>
          <a:lstStyle/>
          <a:p>
            <a:pPr marL="0" indent="0">
              <a:buNone/>
            </a:pPr>
            <a:r>
              <a:rPr lang="en-US" sz="1300" b="1" kern="0" spc="200">
                <a:solidFill>
                  <a:srgbClr val="CFE3D8"/>
                </a:solidFill>
                <a:latin typeface="Calibri" pitchFamily="34" charset="0"/>
                <a:ea typeface="Calibri" pitchFamily="34" charset="-122"/>
                <a:cs typeface="Calibri" pitchFamily="34" charset="-120"/>
              </a:rPr>
              <a:t>CAPSTONE DEFENSE  ·  DATA ANALYTICS</a:t>
            </a:r>
            <a:endParaRPr lang="en-US" sz="1300"/>
          </a:p>
        </p:txBody>
      </p:sp>
      <p:sp>
        <p:nvSpPr>
          <p:cNvPr id="6" name="Text 3"/>
          <p:cNvSpPr/>
          <p:nvPr/>
        </p:nvSpPr>
        <p:spPr>
          <a:xfrm>
            <a:off x="777240" y="2148840"/>
            <a:ext cx="10607040" cy="1920240"/>
          </a:xfrm>
          <a:prstGeom prst="rect">
            <a:avLst/>
          </a:prstGeom>
          <a:noFill/>
          <a:ln/>
        </p:spPr>
        <p:txBody>
          <a:bodyPr wrap="square" rtlCol="0" anchor="t"/>
          <a:lstStyle/>
          <a:p>
            <a:pPr marL="0" indent="0" algn="l">
              <a:lnSpc>
                <a:spcPct val="105000"/>
              </a:lnSpc>
              <a:buNone/>
            </a:pPr>
            <a:r>
              <a:rPr lang="en-US" sz="4000" b="1">
                <a:solidFill>
                  <a:srgbClr val="FFFFFF"/>
                </a:solidFill>
                <a:latin typeface="Cambria" pitchFamily="34" charset="0"/>
                <a:ea typeface="Cambria" pitchFamily="34" charset="-122"/>
                <a:cs typeface="Cambria" pitchFamily="34" charset="-120"/>
              </a:rPr>
              <a:t>Advancing Circular Economy Practices in Agricultural Waste Management</a:t>
            </a:r>
            <a:endParaRPr lang="en-US" sz="4000"/>
          </a:p>
        </p:txBody>
      </p:sp>
      <p:sp>
        <p:nvSpPr>
          <p:cNvPr id="7" name="Text 4"/>
          <p:cNvSpPr/>
          <p:nvPr/>
        </p:nvSpPr>
        <p:spPr>
          <a:xfrm>
            <a:off x="777240" y="3977640"/>
            <a:ext cx="9601200" cy="548640"/>
          </a:xfrm>
          <a:prstGeom prst="rect">
            <a:avLst/>
          </a:prstGeom>
          <a:noFill/>
          <a:ln/>
        </p:spPr>
        <p:txBody>
          <a:bodyPr wrap="square" rtlCol="0" anchor="ctr"/>
          <a:lstStyle/>
          <a:p>
            <a:pPr marL="0" indent="0">
              <a:buNone/>
            </a:pPr>
            <a:r>
              <a:rPr lang="en-US" sz="1800" i="1">
                <a:solidFill>
                  <a:srgbClr val="CFE3D8"/>
                </a:solidFill>
                <a:latin typeface="Calibri" pitchFamily="34" charset="0"/>
                <a:ea typeface="Calibri" pitchFamily="34" charset="-122"/>
                <a:cs typeface="Calibri" pitchFamily="34" charset="-120"/>
              </a:rPr>
              <a:t>A Power BI decision-support analysis across eight African countries</a:t>
            </a:r>
            <a:endParaRPr lang="en-US" sz="1800"/>
          </a:p>
        </p:txBody>
      </p:sp>
      <p:sp>
        <p:nvSpPr>
          <p:cNvPr id="8" name="Shape 5"/>
          <p:cNvSpPr/>
          <p:nvPr/>
        </p:nvSpPr>
        <p:spPr>
          <a:xfrm>
            <a:off x="822960" y="4709160"/>
            <a:ext cx="2743200" cy="0"/>
          </a:xfrm>
          <a:prstGeom prst="line">
            <a:avLst/>
          </a:prstGeom>
          <a:noFill/>
          <a:ln w="12700">
            <a:solidFill>
              <a:srgbClr val="3C7A5B"/>
            </a:solidFill>
            <a:prstDash val="solid"/>
          </a:ln>
        </p:spPr>
      </p:sp>
      <p:sp>
        <p:nvSpPr>
          <p:cNvPr id="9" name="Shape 6"/>
          <p:cNvSpPr/>
          <p:nvPr/>
        </p:nvSpPr>
        <p:spPr>
          <a:xfrm>
            <a:off x="991154" y="5029200"/>
            <a:ext cx="658368" cy="365760"/>
          </a:xfrm>
          <a:prstGeom prst="roundRect">
            <a:avLst>
              <a:gd name="adj" fmla="val 20000"/>
            </a:avLst>
          </a:prstGeom>
          <a:solidFill>
            <a:srgbClr val="1F6F4A">
              <a:alpha val="45000"/>
            </a:srgbClr>
          </a:solidFill>
          <a:ln w="9525">
            <a:solidFill>
              <a:srgbClr val="3C7A5B"/>
            </a:solidFill>
            <a:prstDash val="solid"/>
          </a:ln>
        </p:spPr>
      </p:sp>
      <p:sp>
        <p:nvSpPr>
          <p:cNvPr id="10" name="Text 7"/>
          <p:cNvSpPr/>
          <p:nvPr/>
        </p:nvSpPr>
        <p:spPr>
          <a:xfrm>
            <a:off x="777239" y="5029200"/>
            <a:ext cx="770497" cy="301752"/>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Kenya</a:t>
            </a:r>
            <a:endParaRPr lang="en-US" sz="1100"/>
          </a:p>
        </p:txBody>
      </p:sp>
      <p:sp>
        <p:nvSpPr>
          <p:cNvPr id="13" name="Shape 10"/>
          <p:cNvSpPr/>
          <p:nvPr/>
        </p:nvSpPr>
        <p:spPr>
          <a:xfrm>
            <a:off x="2249424" y="5021534"/>
            <a:ext cx="932688" cy="365760"/>
          </a:xfrm>
          <a:prstGeom prst="roundRect">
            <a:avLst>
              <a:gd name="adj" fmla="val 20000"/>
            </a:avLst>
          </a:prstGeom>
          <a:solidFill>
            <a:srgbClr val="1F6F4A">
              <a:alpha val="45000"/>
            </a:srgbClr>
          </a:solidFill>
          <a:ln w="9525">
            <a:solidFill>
              <a:srgbClr val="3C7A5B"/>
            </a:solidFill>
            <a:prstDash val="solid"/>
          </a:ln>
        </p:spPr>
      </p:sp>
      <p:sp>
        <p:nvSpPr>
          <p:cNvPr id="14" name="Text 11"/>
          <p:cNvSpPr/>
          <p:nvPr/>
        </p:nvSpPr>
        <p:spPr>
          <a:xfrm>
            <a:off x="2068945" y="5029199"/>
            <a:ext cx="1469783" cy="373423"/>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Cameroon</a:t>
            </a:r>
            <a:endParaRPr lang="en-US" sz="1100"/>
          </a:p>
        </p:txBody>
      </p:sp>
      <p:sp>
        <p:nvSpPr>
          <p:cNvPr id="15" name="Shape 12"/>
          <p:cNvSpPr/>
          <p:nvPr/>
        </p:nvSpPr>
        <p:spPr>
          <a:xfrm>
            <a:off x="3703320" y="5029200"/>
            <a:ext cx="1298448" cy="365760"/>
          </a:xfrm>
          <a:prstGeom prst="roundRect">
            <a:avLst>
              <a:gd name="adj" fmla="val 20000"/>
            </a:avLst>
          </a:prstGeom>
          <a:solidFill>
            <a:srgbClr val="1F6F4A">
              <a:alpha val="45000"/>
            </a:srgbClr>
          </a:solidFill>
          <a:ln w="9525">
            <a:solidFill>
              <a:srgbClr val="3C7A5B"/>
            </a:solidFill>
            <a:prstDash val="solid"/>
          </a:ln>
        </p:spPr>
      </p:sp>
      <p:sp>
        <p:nvSpPr>
          <p:cNvPr id="16" name="Text 13"/>
          <p:cNvSpPr/>
          <p:nvPr/>
        </p:nvSpPr>
        <p:spPr>
          <a:xfrm>
            <a:off x="3703320" y="5029200"/>
            <a:ext cx="1298448" cy="36576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South Africa</a:t>
            </a:r>
            <a:endParaRPr lang="en-US" sz="1100"/>
          </a:p>
        </p:txBody>
      </p:sp>
      <p:sp>
        <p:nvSpPr>
          <p:cNvPr id="17" name="Shape 14"/>
          <p:cNvSpPr/>
          <p:nvPr/>
        </p:nvSpPr>
        <p:spPr>
          <a:xfrm>
            <a:off x="5166360" y="5029200"/>
            <a:ext cx="749808" cy="365760"/>
          </a:xfrm>
          <a:prstGeom prst="roundRect">
            <a:avLst>
              <a:gd name="adj" fmla="val 20000"/>
            </a:avLst>
          </a:prstGeom>
          <a:solidFill>
            <a:srgbClr val="1F6F4A">
              <a:alpha val="45000"/>
            </a:srgbClr>
          </a:solidFill>
          <a:ln w="9525">
            <a:solidFill>
              <a:srgbClr val="3C7A5B"/>
            </a:solidFill>
            <a:prstDash val="solid"/>
          </a:ln>
        </p:spPr>
      </p:sp>
      <p:sp>
        <p:nvSpPr>
          <p:cNvPr id="18" name="Text 15"/>
          <p:cNvSpPr/>
          <p:nvPr/>
        </p:nvSpPr>
        <p:spPr>
          <a:xfrm>
            <a:off x="5166360" y="5029200"/>
            <a:ext cx="749808" cy="36576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Rwanda</a:t>
            </a:r>
            <a:endParaRPr lang="en-US" sz="1100"/>
          </a:p>
        </p:txBody>
      </p:sp>
      <p:sp>
        <p:nvSpPr>
          <p:cNvPr id="19" name="Shape 16"/>
          <p:cNvSpPr/>
          <p:nvPr/>
        </p:nvSpPr>
        <p:spPr>
          <a:xfrm>
            <a:off x="6080760" y="5029200"/>
            <a:ext cx="932688" cy="365760"/>
          </a:xfrm>
          <a:prstGeom prst="roundRect">
            <a:avLst>
              <a:gd name="adj" fmla="val 20000"/>
            </a:avLst>
          </a:prstGeom>
          <a:solidFill>
            <a:srgbClr val="1F6F4A">
              <a:alpha val="45000"/>
            </a:srgbClr>
          </a:solidFill>
          <a:ln w="9525">
            <a:solidFill>
              <a:srgbClr val="3C7A5B"/>
            </a:solidFill>
            <a:prstDash val="solid"/>
          </a:ln>
        </p:spPr>
      </p:sp>
      <p:sp>
        <p:nvSpPr>
          <p:cNvPr id="20" name="Text 17"/>
          <p:cNvSpPr/>
          <p:nvPr/>
        </p:nvSpPr>
        <p:spPr>
          <a:xfrm>
            <a:off x="6080760" y="5029200"/>
            <a:ext cx="932688" cy="36576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Botswana</a:t>
            </a:r>
            <a:endParaRPr lang="en-US" sz="1100"/>
          </a:p>
        </p:txBody>
      </p:sp>
      <p:sp>
        <p:nvSpPr>
          <p:cNvPr id="21" name="Shape 18"/>
          <p:cNvSpPr/>
          <p:nvPr/>
        </p:nvSpPr>
        <p:spPr>
          <a:xfrm>
            <a:off x="7178040" y="5029200"/>
            <a:ext cx="658368" cy="365760"/>
          </a:xfrm>
          <a:prstGeom prst="roundRect">
            <a:avLst>
              <a:gd name="adj" fmla="val 20000"/>
            </a:avLst>
          </a:prstGeom>
          <a:solidFill>
            <a:srgbClr val="1F6F4A">
              <a:alpha val="45000"/>
            </a:srgbClr>
          </a:solidFill>
          <a:ln w="9525">
            <a:solidFill>
              <a:srgbClr val="3C7A5B"/>
            </a:solidFill>
            <a:prstDash val="solid"/>
          </a:ln>
        </p:spPr>
      </p:sp>
      <p:sp>
        <p:nvSpPr>
          <p:cNvPr id="22" name="Text 19"/>
          <p:cNvSpPr/>
          <p:nvPr/>
        </p:nvSpPr>
        <p:spPr>
          <a:xfrm>
            <a:off x="7178040" y="5029200"/>
            <a:ext cx="658368" cy="36576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Ghana</a:t>
            </a:r>
            <a:endParaRPr lang="en-US" sz="1100"/>
          </a:p>
        </p:txBody>
      </p:sp>
      <p:sp>
        <p:nvSpPr>
          <p:cNvPr id="23" name="Shape 20"/>
          <p:cNvSpPr/>
          <p:nvPr/>
        </p:nvSpPr>
        <p:spPr>
          <a:xfrm>
            <a:off x="8001000" y="5029200"/>
            <a:ext cx="1755648" cy="365760"/>
          </a:xfrm>
          <a:prstGeom prst="roundRect">
            <a:avLst>
              <a:gd name="adj" fmla="val 20000"/>
            </a:avLst>
          </a:prstGeom>
          <a:solidFill>
            <a:srgbClr val="1F6F4A">
              <a:alpha val="45000"/>
            </a:srgbClr>
          </a:solidFill>
          <a:ln w="9525">
            <a:solidFill>
              <a:srgbClr val="3C7A5B"/>
            </a:solidFill>
            <a:prstDash val="solid"/>
          </a:ln>
        </p:spPr>
      </p:sp>
      <p:sp>
        <p:nvSpPr>
          <p:cNvPr id="24" name="Text 21"/>
          <p:cNvSpPr/>
          <p:nvPr/>
        </p:nvSpPr>
        <p:spPr>
          <a:xfrm>
            <a:off x="8001000" y="5029200"/>
            <a:ext cx="1755648" cy="36576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Congo (Dem. Rep.)</a:t>
            </a:r>
            <a:endParaRPr lang="en-US" sz="1100"/>
          </a:p>
        </p:txBody>
      </p:sp>
      <p:sp>
        <p:nvSpPr>
          <p:cNvPr id="25" name="Text 22"/>
          <p:cNvSpPr/>
          <p:nvPr/>
        </p:nvSpPr>
        <p:spPr>
          <a:xfrm>
            <a:off x="777240" y="6080760"/>
            <a:ext cx="5486400" cy="365760"/>
          </a:xfrm>
          <a:prstGeom prst="rect">
            <a:avLst/>
          </a:prstGeom>
          <a:noFill/>
          <a:ln/>
        </p:spPr>
        <p:txBody>
          <a:bodyPr wrap="square" rtlCol="0" anchor="ctr"/>
          <a:lstStyle/>
          <a:p>
            <a:pPr marL="0" indent="0">
              <a:buNone/>
            </a:pPr>
            <a:r>
              <a:rPr lang="en-US" sz="1200" b="1" kern="0" spc="100">
                <a:solidFill>
                  <a:srgbClr val="9FB8AB"/>
                </a:solidFill>
                <a:latin typeface="Calibri" pitchFamily="34" charset="0"/>
                <a:ea typeface="Calibri" pitchFamily="34" charset="-122"/>
                <a:cs typeface="Calibri" pitchFamily="34" charset="-120"/>
              </a:rPr>
              <a:t>SDG 2  ·  SDG 8  ·  SDG 12  ·  SDG 13</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01  Problem Statement</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800" b="1">
                <a:solidFill>
                  <a:srgbClr val="1E2B24"/>
                </a:solidFill>
                <a:latin typeface="Cambria" pitchFamily="34" charset="0"/>
                <a:ea typeface="Cambria" pitchFamily="34" charset="-122"/>
                <a:cs typeface="Cambria" pitchFamily="34" charset="-120"/>
              </a:rPr>
              <a:t>Agricultural waste is a visible cost with no coordinated response</a:t>
            </a:r>
            <a:endParaRPr lang="en-US" sz="2800"/>
          </a:p>
        </p:txBody>
      </p:sp>
      <p:sp>
        <p:nvSpPr>
          <p:cNvPr id="4" name="Shape 2"/>
          <p:cNvSpPr/>
          <p:nvPr/>
        </p:nvSpPr>
        <p:spPr>
          <a:xfrm>
            <a:off x="640080" y="1965960"/>
            <a:ext cx="5257800" cy="1965960"/>
          </a:xfrm>
          <a:prstGeom prst="roundRect">
            <a:avLst>
              <a:gd name="adj" fmla="val 3721"/>
            </a:avLst>
          </a:prstGeom>
          <a:solidFill>
            <a:srgbClr val="E8F0EA"/>
          </a:solidFill>
          <a:ln/>
          <a:effectLst>
            <a:outerShdw blurRad="101600" dist="25400" dir="5400000" algn="bl" rotWithShape="0">
              <a:srgbClr val="1F6F4A">
                <a:alpha val="8000"/>
              </a:srgbClr>
            </a:outerShdw>
          </a:effectLst>
        </p:spPr>
      </p:sp>
      <p:sp>
        <p:nvSpPr>
          <p:cNvPr id="5" name="Shape 3"/>
          <p:cNvSpPr/>
          <p:nvPr/>
        </p:nvSpPr>
        <p:spPr>
          <a:xfrm>
            <a:off x="914400" y="2240280"/>
            <a:ext cx="548640" cy="548640"/>
          </a:xfrm>
          <a:prstGeom prst="ellipse">
            <a:avLst/>
          </a:prstGeom>
          <a:solidFill>
            <a:srgbClr val="1F6F4A"/>
          </a:solidFill>
          <a:ln/>
        </p:spPr>
      </p:sp>
      <p:pic>
        <p:nvPicPr>
          <p:cNvPr id="6" name="Image 0" descr="icons/database_FFFFFF.png"/>
          <p:cNvPicPr>
            <a:picLocks noChangeAspect="1"/>
          </p:cNvPicPr>
          <p:nvPr/>
        </p:nvPicPr>
        <p:blipFill>
          <a:blip r:embed="rId3"/>
          <a:stretch>
            <a:fillRect/>
          </a:stretch>
        </p:blipFill>
        <p:spPr>
          <a:xfrm>
            <a:off x="1042416" y="2368296"/>
            <a:ext cx="292608" cy="292608"/>
          </a:xfrm>
          <a:prstGeom prst="rect">
            <a:avLst/>
          </a:prstGeom>
        </p:spPr>
      </p:pic>
      <p:sp>
        <p:nvSpPr>
          <p:cNvPr id="7" name="Text 4"/>
          <p:cNvSpPr/>
          <p:nvPr/>
        </p:nvSpPr>
        <p:spPr>
          <a:xfrm>
            <a:off x="1645920" y="2221992"/>
            <a:ext cx="4069080" cy="365760"/>
          </a:xfrm>
          <a:prstGeom prst="rect">
            <a:avLst/>
          </a:prstGeom>
          <a:noFill/>
          <a:ln/>
        </p:spPr>
        <p:txBody>
          <a:bodyPr wrap="square" rtlCol="0" anchor="ctr"/>
          <a:lstStyle/>
          <a:p>
            <a:pPr marL="0" indent="0">
              <a:buNone/>
            </a:pPr>
            <a:r>
              <a:rPr lang="en-US" sz="1600" b="1">
                <a:solidFill>
                  <a:srgbClr val="1E2B24"/>
                </a:solidFill>
                <a:latin typeface="Cambria" pitchFamily="34" charset="0"/>
                <a:ea typeface="Cambria" pitchFamily="34" charset="-122"/>
                <a:cs typeface="Cambria" pitchFamily="34" charset="-120"/>
              </a:rPr>
              <a:t>Fragmented data</a:t>
            </a:r>
            <a:endParaRPr lang="en-US" sz="1600"/>
          </a:p>
        </p:txBody>
      </p:sp>
      <p:sp>
        <p:nvSpPr>
          <p:cNvPr id="8" name="Text 5"/>
          <p:cNvSpPr/>
          <p:nvPr/>
        </p:nvSpPr>
        <p:spPr>
          <a:xfrm>
            <a:off x="914400" y="283464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Agricultural, socioeconomic, and environmental indicators sit in separate sources (FAOSTAT, World Bank, ILOSTAT, UNEP) with no shared view.</a:t>
            </a:r>
            <a:endParaRPr lang="en-US" sz="1600">
              <a:latin typeface="Calibri"/>
              <a:ea typeface="Calibri"/>
              <a:cs typeface="Calibri"/>
            </a:endParaRPr>
          </a:p>
        </p:txBody>
      </p:sp>
      <p:sp>
        <p:nvSpPr>
          <p:cNvPr id="9" name="Shape 6"/>
          <p:cNvSpPr/>
          <p:nvPr/>
        </p:nvSpPr>
        <p:spPr>
          <a:xfrm>
            <a:off x="6172200" y="1965960"/>
            <a:ext cx="5257800" cy="1965960"/>
          </a:xfrm>
          <a:prstGeom prst="roundRect">
            <a:avLst>
              <a:gd name="adj" fmla="val 3721"/>
            </a:avLst>
          </a:prstGeom>
          <a:solidFill>
            <a:srgbClr val="E8F0EA"/>
          </a:solidFill>
          <a:ln/>
          <a:effectLst>
            <a:outerShdw blurRad="101600" dist="25400" dir="5400000" algn="bl" rotWithShape="0">
              <a:srgbClr val="1F6F4A">
                <a:alpha val="8000"/>
              </a:srgbClr>
            </a:outerShdw>
          </a:effectLst>
        </p:spPr>
      </p:sp>
      <p:sp>
        <p:nvSpPr>
          <p:cNvPr id="10" name="Shape 7"/>
          <p:cNvSpPr/>
          <p:nvPr/>
        </p:nvSpPr>
        <p:spPr>
          <a:xfrm>
            <a:off x="6446520" y="2240280"/>
            <a:ext cx="548640" cy="548640"/>
          </a:xfrm>
          <a:prstGeom prst="ellipse">
            <a:avLst/>
          </a:prstGeom>
          <a:solidFill>
            <a:srgbClr val="1F6F4A"/>
          </a:solidFill>
          <a:ln/>
        </p:spPr>
      </p:sp>
      <p:pic>
        <p:nvPicPr>
          <p:cNvPr id="11" name="Image 1" descr="icons/searchdollar_FFFFFF.png"/>
          <p:cNvPicPr>
            <a:picLocks noChangeAspect="1"/>
          </p:cNvPicPr>
          <p:nvPr/>
        </p:nvPicPr>
        <p:blipFill>
          <a:blip r:embed="rId4"/>
          <a:stretch>
            <a:fillRect/>
          </a:stretch>
        </p:blipFill>
        <p:spPr>
          <a:xfrm>
            <a:off x="6574536" y="2368296"/>
            <a:ext cx="292608" cy="292608"/>
          </a:xfrm>
          <a:prstGeom prst="rect">
            <a:avLst/>
          </a:prstGeom>
        </p:spPr>
      </p:pic>
      <p:sp>
        <p:nvSpPr>
          <p:cNvPr id="12" name="Text 8"/>
          <p:cNvSpPr/>
          <p:nvPr/>
        </p:nvSpPr>
        <p:spPr>
          <a:xfrm>
            <a:off x="7178040" y="2221992"/>
            <a:ext cx="4069080" cy="365760"/>
          </a:xfrm>
          <a:prstGeom prst="rect">
            <a:avLst/>
          </a:prstGeom>
          <a:noFill/>
          <a:ln/>
        </p:spPr>
        <p:txBody>
          <a:bodyPr wrap="square" rtlCol="0" anchor="ctr"/>
          <a:lstStyle/>
          <a:p>
            <a:pPr marL="0" indent="0">
              <a:buNone/>
            </a:pPr>
            <a:r>
              <a:rPr lang="en-US" sz="1600" b="1">
                <a:solidFill>
                  <a:srgbClr val="1E2B24"/>
                </a:solidFill>
                <a:latin typeface="Cambria" pitchFamily="34" charset="0"/>
                <a:ea typeface="Cambria" pitchFamily="34" charset="-122"/>
                <a:cs typeface="Cambria" pitchFamily="34" charset="-120"/>
              </a:rPr>
              <a:t>No investment signal</a:t>
            </a:r>
            <a:endParaRPr lang="en-US" sz="1600"/>
          </a:p>
        </p:txBody>
      </p:sp>
      <p:sp>
        <p:nvSpPr>
          <p:cNvPr id="13" name="Text 9"/>
          <p:cNvSpPr/>
          <p:nvPr/>
        </p:nvSpPr>
        <p:spPr>
          <a:xfrm>
            <a:off x="6446520" y="283464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Policymakers and investors lack a way to see where waste, unemployment, and emissions overlap enough to justify capital.</a:t>
            </a:r>
            <a:endParaRPr lang="en-US" sz="1600">
              <a:latin typeface="Calibri"/>
              <a:ea typeface="Calibri"/>
              <a:cs typeface="Calibri"/>
            </a:endParaRPr>
          </a:p>
        </p:txBody>
      </p:sp>
      <p:sp>
        <p:nvSpPr>
          <p:cNvPr id="14" name="Shape 10"/>
          <p:cNvSpPr/>
          <p:nvPr/>
        </p:nvSpPr>
        <p:spPr>
          <a:xfrm>
            <a:off x="640080" y="4206240"/>
            <a:ext cx="5257800" cy="1965960"/>
          </a:xfrm>
          <a:prstGeom prst="roundRect">
            <a:avLst>
              <a:gd name="adj" fmla="val 3721"/>
            </a:avLst>
          </a:prstGeom>
          <a:solidFill>
            <a:srgbClr val="E8F0EA"/>
          </a:solidFill>
          <a:ln/>
          <a:effectLst>
            <a:outerShdw blurRad="101600" dist="25400" dir="5400000" algn="bl" rotWithShape="0">
              <a:srgbClr val="1F6F4A">
                <a:alpha val="8000"/>
              </a:srgbClr>
            </a:outerShdw>
          </a:effectLst>
        </p:spPr>
      </p:sp>
      <p:sp>
        <p:nvSpPr>
          <p:cNvPr id="15" name="Shape 11"/>
          <p:cNvSpPr/>
          <p:nvPr/>
        </p:nvSpPr>
        <p:spPr>
          <a:xfrm>
            <a:off x="914400" y="4480560"/>
            <a:ext cx="548640" cy="548640"/>
          </a:xfrm>
          <a:prstGeom prst="ellipse">
            <a:avLst/>
          </a:prstGeom>
          <a:solidFill>
            <a:srgbClr val="1F6F4A"/>
          </a:solidFill>
          <a:ln/>
        </p:spPr>
      </p:sp>
      <p:pic>
        <p:nvPicPr>
          <p:cNvPr id="16" name="Image 2" descr="icons/warehouse_FFFFFF.png"/>
          <p:cNvPicPr>
            <a:picLocks noChangeAspect="1"/>
          </p:cNvPicPr>
          <p:nvPr/>
        </p:nvPicPr>
        <p:blipFill>
          <a:blip r:embed="rId5"/>
          <a:stretch>
            <a:fillRect/>
          </a:stretch>
        </p:blipFill>
        <p:spPr>
          <a:xfrm>
            <a:off x="1042416" y="4608576"/>
            <a:ext cx="292608" cy="292608"/>
          </a:xfrm>
          <a:prstGeom prst="rect">
            <a:avLst/>
          </a:prstGeom>
        </p:spPr>
      </p:pic>
      <p:sp>
        <p:nvSpPr>
          <p:cNvPr id="17" name="Text 12"/>
          <p:cNvSpPr/>
          <p:nvPr/>
        </p:nvSpPr>
        <p:spPr>
          <a:xfrm>
            <a:off x="1645920" y="4462272"/>
            <a:ext cx="4069080" cy="365760"/>
          </a:xfrm>
          <a:prstGeom prst="rect">
            <a:avLst/>
          </a:prstGeom>
          <a:noFill/>
          <a:ln/>
        </p:spPr>
        <p:txBody>
          <a:bodyPr wrap="square" rtlCol="0" anchor="ctr"/>
          <a:lstStyle/>
          <a:p>
            <a:pPr marL="0" indent="0">
              <a:buNone/>
            </a:pPr>
            <a:r>
              <a:rPr lang="en-US" sz="1600" b="1">
                <a:solidFill>
                  <a:srgbClr val="1E2B24"/>
                </a:solidFill>
                <a:latin typeface="Cambria" pitchFamily="34" charset="0"/>
                <a:ea typeface="Cambria" pitchFamily="34" charset="-122"/>
                <a:cs typeface="Cambria" pitchFamily="34" charset="-120"/>
              </a:rPr>
              <a:t>Post-harvest blind spot</a:t>
            </a:r>
            <a:endParaRPr lang="en-US" sz="1600"/>
          </a:p>
        </p:txBody>
      </p:sp>
      <p:sp>
        <p:nvSpPr>
          <p:cNvPr id="18" name="Text 13"/>
          <p:cNvSpPr/>
          <p:nvPr/>
        </p:nvSpPr>
        <p:spPr>
          <a:xfrm>
            <a:off x="914400" y="507492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Conversations focus on production volumes, while losses concentrated in storage, handling, and logistics go largely unmeasured.</a:t>
            </a:r>
            <a:endParaRPr lang="en-US" sz="1600">
              <a:latin typeface="Calibri"/>
              <a:ea typeface="Calibri"/>
              <a:cs typeface="Calibri"/>
            </a:endParaRPr>
          </a:p>
        </p:txBody>
      </p:sp>
      <p:sp>
        <p:nvSpPr>
          <p:cNvPr id="19" name="Shape 14"/>
          <p:cNvSpPr/>
          <p:nvPr/>
        </p:nvSpPr>
        <p:spPr>
          <a:xfrm>
            <a:off x="6172200" y="4206240"/>
            <a:ext cx="5257800" cy="1965960"/>
          </a:xfrm>
          <a:prstGeom prst="roundRect">
            <a:avLst>
              <a:gd name="adj" fmla="val 3721"/>
            </a:avLst>
          </a:prstGeom>
          <a:solidFill>
            <a:srgbClr val="E8F0EA"/>
          </a:solidFill>
          <a:ln/>
          <a:effectLst>
            <a:outerShdw blurRad="101600" dist="25400" dir="5400000" algn="bl" rotWithShape="0">
              <a:srgbClr val="1F6F4A">
                <a:alpha val="8000"/>
              </a:srgbClr>
            </a:outerShdw>
          </a:effectLst>
        </p:spPr>
      </p:sp>
      <p:sp>
        <p:nvSpPr>
          <p:cNvPr id="20" name="Shape 15"/>
          <p:cNvSpPr/>
          <p:nvPr/>
        </p:nvSpPr>
        <p:spPr>
          <a:xfrm>
            <a:off x="6446520" y="4480560"/>
            <a:ext cx="548640" cy="548640"/>
          </a:xfrm>
          <a:prstGeom prst="ellipse">
            <a:avLst/>
          </a:prstGeom>
          <a:solidFill>
            <a:srgbClr val="1F6F4A"/>
          </a:solidFill>
          <a:ln/>
        </p:spPr>
      </p:sp>
      <p:pic>
        <p:nvPicPr>
          <p:cNvPr id="21" name="Image 3" descr="icons/chartline_FFFFFF.png"/>
          <p:cNvPicPr>
            <a:picLocks noChangeAspect="1"/>
          </p:cNvPicPr>
          <p:nvPr/>
        </p:nvPicPr>
        <p:blipFill>
          <a:blip r:embed="rId6"/>
          <a:stretch>
            <a:fillRect/>
          </a:stretch>
        </p:blipFill>
        <p:spPr>
          <a:xfrm>
            <a:off x="6574536" y="4608576"/>
            <a:ext cx="292608" cy="292608"/>
          </a:xfrm>
          <a:prstGeom prst="rect">
            <a:avLst/>
          </a:prstGeom>
        </p:spPr>
      </p:pic>
      <p:sp>
        <p:nvSpPr>
          <p:cNvPr id="22" name="Text 16"/>
          <p:cNvSpPr/>
          <p:nvPr/>
        </p:nvSpPr>
        <p:spPr>
          <a:xfrm>
            <a:off x="7178040" y="4462272"/>
            <a:ext cx="4069080" cy="365760"/>
          </a:xfrm>
          <a:prstGeom prst="rect">
            <a:avLst/>
          </a:prstGeom>
          <a:noFill/>
          <a:ln/>
        </p:spPr>
        <p:txBody>
          <a:bodyPr wrap="square" rtlCol="0" anchor="ctr"/>
          <a:lstStyle/>
          <a:p>
            <a:pPr marL="0" indent="0">
              <a:buNone/>
            </a:pPr>
            <a:r>
              <a:rPr lang="en-US" sz="1600" b="1">
                <a:solidFill>
                  <a:srgbClr val="1E2B24"/>
                </a:solidFill>
                <a:latin typeface="Cambria" pitchFamily="34" charset="0"/>
                <a:ea typeface="Cambria" pitchFamily="34" charset="-122"/>
                <a:cs typeface="Cambria" pitchFamily="34" charset="-120"/>
              </a:rPr>
              <a:t>Insight locked in spreadsheets</a:t>
            </a:r>
            <a:endParaRPr lang="en-US" sz="1600"/>
          </a:p>
        </p:txBody>
      </p:sp>
      <p:sp>
        <p:nvSpPr>
          <p:cNvPr id="23" name="Text 17"/>
          <p:cNvSpPr/>
          <p:nvPr/>
        </p:nvSpPr>
        <p:spPr>
          <a:xfrm>
            <a:off x="6446520" y="507492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Existing analysis is static and technical, inaccessible to non-technical decision-makers who need to act on it quickly.</a:t>
            </a:r>
            <a:endParaRPr lang="en-US" sz="1600">
              <a:latin typeface="Calibri"/>
              <a:ea typeface="Calibri"/>
              <a:cs typeface="Calibri"/>
            </a:endParaRPr>
          </a:p>
        </p:txBody>
      </p:sp>
      <p:sp>
        <p:nvSpPr>
          <p:cNvPr id="24" name="Text 18"/>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25" name="Text 19"/>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02  Project Objectives</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800" b="1">
                <a:solidFill>
                  <a:srgbClr val="1E2B24"/>
                </a:solidFill>
                <a:latin typeface="Cambria" pitchFamily="34" charset="0"/>
                <a:ea typeface="Cambria" pitchFamily="34" charset="-122"/>
                <a:cs typeface="Cambria" pitchFamily="34" charset="-120"/>
              </a:rPr>
              <a:t>What this capstone set out to do — and delivered</a:t>
            </a:r>
            <a:endParaRPr lang="en-US" sz="2800"/>
          </a:p>
        </p:txBody>
      </p:sp>
      <p:sp>
        <p:nvSpPr>
          <p:cNvPr id="4" name="Shape 2"/>
          <p:cNvSpPr/>
          <p:nvPr/>
        </p:nvSpPr>
        <p:spPr>
          <a:xfrm>
            <a:off x="640080" y="1874520"/>
            <a:ext cx="10881360" cy="804672"/>
          </a:xfrm>
          <a:prstGeom prst="roundRect">
            <a:avLst>
              <a:gd name="adj" fmla="val 9091"/>
            </a:avLst>
          </a:prstGeom>
          <a:solidFill>
            <a:srgbClr val="E8F0EA"/>
          </a:solidFill>
          <a:ln/>
        </p:spPr>
      </p:sp>
      <p:sp>
        <p:nvSpPr>
          <p:cNvPr id="5" name="Shape 3"/>
          <p:cNvSpPr/>
          <p:nvPr/>
        </p:nvSpPr>
        <p:spPr>
          <a:xfrm>
            <a:off x="868680" y="2048256"/>
            <a:ext cx="457200" cy="457200"/>
          </a:xfrm>
          <a:prstGeom prst="ellipse">
            <a:avLst/>
          </a:prstGeom>
          <a:solidFill>
            <a:srgbClr val="1F6F4A"/>
          </a:solidFill>
          <a:ln/>
        </p:spPr>
      </p:sp>
      <p:pic>
        <p:nvPicPr>
          <p:cNvPr id="6" name="Image 0" descr="icons/chartbar_FFFFFF.png"/>
          <p:cNvPicPr>
            <a:picLocks noChangeAspect="1"/>
          </p:cNvPicPr>
          <p:nvPr/>
        </p:nvPicPr>
        <p:blipFill>
          <a:blip r:embed="rId3"/>
          <a:stretch>
            <a:fillRect/>
          </a:stretch>
        </p:blipFill>
        <p:spPr>
          <a:xfrm>
            <a:off x="969264" y="2148840"/>
            <a:ext cx="256032" cy="256032"/>
          </a:xfrm>
          <a:prstGeom prst="rect">
            <a:avLst/>
          </a:prstGeom>
        </p:spPr>
      </p:pic>
      <p:sp>
        <p:nvSpPr>
          <p:cNvPr id="7" name="Text 4"/>
          <p:cNvSpPr/>
          <p:nvPr/>
        </p:nvSpPr>
        <p:spPr>
          <a:xfrm>
            <a:off x="1508760" y="1947672"/>
            <a:ext cx="3200400" cy="658368"/>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Quantify waste and food loss</a:t>
            </a:r>
            <a:endParaRPr lang="en-US" sz="1600">
              <a:latin typeface="Cambria"/>
              <a:ea typeface="Cambria"/>
            </a:endParaRPr>
          </a:p>
        </p:txBody>
      </p:sp>
      <p:sp>
        <p:nvSpPr>
          <p:cNvPr id="8" name="Text 5"/>
          <p:cNvSpPr/>
          <p:nvPr/>
        </p:nvSpPr>
        <p:spPr>
          <a:xfrm>
            <a:off x="4846320" y="1947672"/>
            <a:ext cx="6492240" cy="658368"/>
          </a:xfrm>
          <a:prstGeom prst="rect">
            <a:avLst/>
          </a:prstGeom>
          <a:noFill/>
          <a:ln/>
        </p:spPr>
        <p:txBody>
          <a:bodyPr wrap="square" lIns="91440" tIns="45720" rIns="91440" bIns="45720" rtlCol="0" anchor="ctr"/>
          <a:lstStyle/>
          <a:p>
            <a:pPr marL="0" indent="0">
              <a:lnSpc>
                <a:spcPct val="110000"/>
              </a:lnSpc>
              <a:buNone/>
            </a:pPr>
            <a:r>
              <a:rPr lang="en-US" sz="1600">
                <a:solidFill>
                  <a:srgbClr val="5B6B62"/>
                </a:solidFill>
                <a:latin typeface="Calibri"/>
                <a:ea typeface="Calibri"/>
                <a:cs typeface="Calibri"/>
              </a:rPr>
              <a:t>Measure agricultural waste and post-harvest food loss by country and by crop across the full dataset.</a:t>
            </a:r>
            <a:endParaRPr lang="en-US" sz="1600">
              <a:latin typeface="Calibri"/>
              <a:ea typeface="Calibri"/>
              <a:cs typeface="Calibri"/>
            </a:endParaRPr>
          </a:p>
        </p:txBody>
      </p:sp>
      <p:sp>
        <p:nvSpPr>
          <p:cNvPr id="9" name="Shape 6"/>
          <p:cNvSpPr/>
          <p:nvPr/>
        </p:nvSpPr>
        <p:spPr>
          <a:xfrm>
            <a:off x="640080" y="2843784"/>
            <a:ext cx="10881360" cy="804672"/>
          </a:xfrm>
          <a:prstGeom prst="roundRect">
            <a:avLst>
              <a:gd name="adj" fmla="val 9091"/>
            </a:avLst>
          </a:prstGeom>
          <a:solidFill>
            <a:srgbClr val="E8F0EA"/>
          </a:solidFill>
          <a:ln/>
        </p:spPr>
      </p:sp>
      <p:sp>
        <p:nvSpPr>
          <p:cNvPr id="10" name="Shape 7"/>
          <p:cNvSpPr/>
          <p:nvPr/>
        </p:nvSpPr>
        <p:spPr>
          <a:xfrm>
            <a:off x="868680" y="3017520"/>
            <a:ext cx="457200" cy="457200"/>
          </a:xfrm>
          <a:prstGeom prst="ellipse">
            <a:avLst/>
          </a:prstGeom>
          <a:solidFill>
            <a:srgbClr val="1F6F4A"/>
          </a:solidFill>
          <a:ln/>
        </p:spPr>
      </p:sp>
      <p:pic>
        <p:nvPicPr>
          <p:cNvPr id="11" name="Image 1" descr="icons/balance_FFFFFF.png"/>
          <p:cNvPicPr>
            <a:picLocks noChangeAspect="1"/>
          </p:cNvPicPr>
          <p:nvPr/>
        </p:nvPicPr>
        <p:blipFill>
          <a:blip r:embed="rId4"/>
          <a:stretch>
            <a:fillRect/>
          </a:stretch>
        </p:blipFill>
        <p:spPr>
          <a:xfrm>
            <a:off x="969264" y="3118104"/>
            <a:ext cx="256032" cy="256032"/>
          </a:xfrm>
          <a:prstGeom prst="rect">
            <a:avLst/>
          </a:prstGeom>
        </p:spPr>
      </p:pic>
      <p:sp>
        <p:nvSpPr>
          <p:cNvPr id="12" name="Text 8"/>
          <p:cNvSpPr/>
          <p:nvPr/>
        </p:nvSpPr>
        <p:spPr>
          <a:xfrm>
            <a:off x="1508760" y="2916936"/>
            <a:ext cx="3200400" cy="658368"/>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Integrate socioeconomic indicators</a:t>
            </a:r>
            <a:endParaRPr lang="en-US" sz="1600">
              <a:latin typeface="Cambria"/>
              <a:ea typeface="Cambria"/>
            </a:endParaRPr>
          </a:p>
        </p:txBody>
      </p:sp>
      <p:sp>
        <p:nvSpPr>
          <p:cNvPr id="13" name="Text 9"/>
          <p:cNvSpPr/>
          <p:nvPr/>
        </p:nvSpPr>
        <p:spPr>
          <a:xfrm>
            <a:off x="4846320" y="2916936"/>
            <a:ext cx="6492240" cy="658368"/>
          </a:xfrm>
          <a:prstGeom prst="rect">
            <a:avLst/>
          </a:prstGeom>
          <a:noFill/>
          <a:ln/>
        </p:spPr>
        <p:txBody>
          <a:bodyPr wrap="square" lIns="91440" tIns="45720" rIns="91440" bIns="45720" rtlCol="0" anchor="ctr"/>
          <a:lstStyle/>
          <a:p>
            <a:pPr marL="0" indent="0">
              <a:lnSpc>
                <a:spcPct val="110000"/>
              </a:lnSpc>
              <a:buNone/>
            </a:pPr>
            <a:r>
              <a:rPr lang="en-US" sz="1600">
                <a:solidFill>
                  <a:srgbClr val="5B6B62"/>
                </a:solidFill>
                <a:latin typeface="Calibri"/>
                <a:ea typeface="Calibri"/>
                <a:cs typeface="Calibri"/>
              </a:rPr>
              <a:t>Combine waste data with unemployment and emissions indicators to reveal where impact overlaps.</a:t>
            </a:r>
            <a:endParaRPr lang="en-US" sz="1600">
              <a:latin typeface="Calibri"/>
              <a:ea typeface="Calibri"/>
              <a:cs typeface="Calibri"/>
            </a:endParaRPr>
          </a:p>
        </p:txBody>
      </p:sp>
      <p:sp>
        <p:nvSpPr>
          <p:cNvPr id="14" name="Shape 10"/>
          <p:cNvSpPr/>
          <p:nvPr/>
        </p:nvSpPr>
        <p:spPr>
          <a:xfrm>
            <a:off x="640080" y="3813048"/>
            <a:ext cx="10881360" cy="804672"/>
          </a:xfrm>
          <a:prstGeom prst="roundRect">
            <a:avLst>
              <a:gd name="adj" fmla="val 9091"/>
            </a:avLst>
          </a:prstGeom>
          <a:solidFill>
            <a:srgbClr val="E8F0EA"/>
          </a:solidFill>
          <a:ln/>
        </p:spPr>
      </p:sp>
      <p:sp>
        <p:nvSpPr>
          <p:cNvPr id="15" name="Shape 11"/>
          <p:cNvSpPr/>
          <p:nvPr/>
        </p:nvSpPr>
        <p:spPr>
          <a:xfrm>
            <a:off x="868680" y="3986784"/>
            <a:ext cx="457200" cy="457200"/>
          </a:xfrm>
          <a:prstGeom prst="ellipse">
            <a:avLst/>
          </a:prstGeom>
          <a:solidFill>
            <a:srgbClr val="1F6F4A"/>
          </a:solidFill>
          <a:ln/>
        </p:spPr>
      </p:sp>
      <p:pic>
        <p:nvPicPr>
          <p:cNvPr id="16" name="Image 2" descr="icons/globeafrica_FFFFFF.png"/>
          <p:cNvPicPr>
            <a:picLocks noChangeAspect="1"/>
          </p:cNvPicPr>
          <p:nvPr/>
        </p:nvPicPr>
        <p:blipFill>
          <a:blip r:embed="rId5"/>
          <a:stretch>
            <a:fillRect/>
          </a:stretch>
        </p:blipFill>
        <p:spPr>
          <a:xfrm>
            <a:off x="969264" y="4087368"/>
            <a:ext cx="256032" cy="256032"/>
          </a:xfrm>
          <a:prstGeom prst="rect">
            <a:avLst/>
          </a:prstGeom>
        </p:spPr>
      </p:pic>
      <p:sp>
        <p:nvSpPr>
          <p:cNvPr id="17" name="Text 12"/>
          <p:cNvSpPr/>
          <p:nvPr/>
        </p:nvSpPr>
        <p:spPr>
          <a:xfrm>
            <a:off x="1508760" y="3886200"/>
            <a:ext cx="3200400" cy="658368"/>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Identify priority regions</a:t>
            </a:r>
            <a:endParaRPr lang="en-US" sz="1600">
              <a:latin typeface="Cambria"/>
              <a:ea typeface="Cambria"/>
            </a:endParaRPr>
          </a:p>
        </p:txBody>
      </p:sp>
      <p:sp>
        <p:nvSpPr>
          <p:cNvPr id="18" name="Text 13"/>
          <p:cNvSpPr/>
          <p:nvPr/>
        </p:nvSpPr>
        <p:spPr>
          <a:xfrm>
            <a:off x="4846320" y="3886200"/>
            <a:ext cx="6492240" cy="658368"/>
          </a:xfrm>
          <a:prstGeom prst="rect">
            <a:avLst/>
          </a:prstGeom>
          <a:noFill/>
          <a:ln/>
        </p:spPr>
        <p:txBody>
          <a:bodyPr wrap="square" lIns="91440" tIns="45720" rIns="91440" bIns="45720" rtlCol="0" anchor="ctr"/>
          <a:lstStyle/>
          <a:p>
            <a:pPr marL="0" indent="0">
              <a:lnSpc>
                <a:spcPct val="110000"/>
              </a:lnSpc>
              <a:buNone/>
            </a:pPr>
            <a:r>
              <a:rPr lang="en-US" sz="1600">
                <a:solidFill>
                  <a:srgbClr val="5B6B62"/>
                </a:solidFill>
                <a:latin typeface="Calibri"/>
                <a:ea typeface="Calibri"/>
                <a:cs typeface="Calibri"/>
              </a:rPr>
              <a:t>Pinpoint the regions where circular economy interventions can deliver the greatest impact.</a:t>
            </a:r>
            <a:endParaRPr lang="en-US" sz="1600">
              <a:latin typeface="Calibri"/>
              <a:ea typeface="Calibri"/>
              <a:cs typeface="Calibri"/>
            </a:endParaRPr>
          </a:p>
        </p:txBody>
      </p:sp>
      <p:sp>
        <p:nvSpPr>
          <p:cNvPr id="19" name="Shape 14"/>
          <p:cNvSpPr/>
          <p:nvPr/>
        </p:nvSpPr>
        <p:spPr>
          <a:xfrm>
            <a:off x="640080" y="4782312"/>
            <a:ext cx="10881360" cy="804672"/>
          </a:xfrm>
          <a:prstGeom prst="roundRect">
            <a:avLst>
              <a:gd name="adj" fmla="val 9091"/>
            </a:avLst>
          </a:prstGeom>
          <a:solidFill>
            <a:srgbClr val="E8F0EA"/>
          </a:solidFill>
          <a:ln/>
        </p:spPr>
      </p:sp>
      <p:sp>
        <p:nvSpPr>
          <p:cNvPr id="20" name="Shape 15"/>
          <p:cNvSpPr/>
          <p:nvPr/>
        </p:nvSpPr>
        <p:spPr>
          <a:xfrm>
            <a:off x="868680" y="4956048"/>
            <a:ext cx="457200" cy="457200"/>
          </a:xfrm>
          <a:prstGeom prst="ellipse">
            <a:avLst/>
          </a:prstGeom>
          <a:solidFill>
            <a:srgbClr val="1F6F4A"/>
          </a:solidFill>
          <a:ln/>
        </p:spPr>
      </p:sp>
      <p:pic>
        <p:nvPicPr>
          <p:cNvPr id="21" name="Image 3" descr="icons/projectdiagram_FFFFFF.png"/>
          <p:cNvPicPr>
            <a:picLocks noChangeAspect="1"/>
          </p:cNvPicPr>
          <p:nvPr/>
        </p:nvPicPr>
        <p:blipFill>
          <a:blip r:embed="rId6"/>
          <a:stretch>
            <a:fillRect/>
          </a:stretch>
        </p:blipFill>
        <p:spPr>
          <a:xfrm>
            <a:off x="969264" y="5056632"/>
            <a:ext cx="256032" cy="256032"/>
          </a:xfrm>
          <a:prstGeom prst="rect">
            <a:avLst/>
          </a:prstGeom>
        </p:spPr>
      </p:pic>
      <p:sp>
        <p:nvSpPr>
          <p:cNvPr id="22" name="Text 16"/>
          <p:cNvSpPr/>
          <p:nvPr/>
        </p:nvSpPr>
        <p:spPr>
          <a:xfrm>
            <a:off x="1508760" y="4855464"/>
            <a:ext cx="3200400" cy="658368"/>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Communicate through Power BI</a:t>
            </a:r>
            <a:endParaRPr lang="en-US" sz="1600">
              <a:latin typeface="Cambria"/>
              <a:ea typeface="Cambria"/>
            </a:endParaRPr>
          </a:p>
        </p:txBody>
      </p:sp>
      <p:sp>
        <p:nvSpPr>
          <p:cNvPr id="23" name="Text 17"/>
          <p:cNvSpPr/>
          <p:nvPr/>
        </p:nvSpPr>
        <p:spPr>
          <a:xfrm>
            <a:off x="4846320" y="4855464"/>
            <a:ext cx="6492240" cy="658368"/>
          </a:xfrm>
          <a:prstGeom prst="rect">
            <a:avLst/>
          </a:prstGeom>
          <a:noFill/>
          <a:ln/>
        </p:spPr>
        <p:txBody>
          <a:bodyPr wrap="square" lIns="91440" tIns="45720" rIns="91440" bIns="45720" rtlCol="0" anchor="ctr"/>
          <a:lstStyle/>
          <a:p>
            <a:pPr marL="0" indent="0">
              <a:lnSpc>
                <a:spcPct val="110000"/>
              </a:lnSpc>
              <a:buNone/>
            </a:pPr>
            <a:r>
              <a:rPr lang="en-US" sz="1600">
                <a:solidFill>
                  <a:srgbClr val="5B6B62"/>
                </a:solidFill>
                <a:latin typeface="Calibri"/>
                <a:ea typeface="Calibri"/>
                <a:cs typeface="Calibri"/>
              </a:rPr>
              <a:t>Deliver insights via an interactive dashboard built for non-technical policymakers and investors.</a:t>
            </a:r>
            <a:endParaRPr lang="en-US" sz="1600">
              <a:latin typeface="Calibri"/>
              <a:ea typeface="Calibri"/>
              <a:cs typeface="Calibri"/>
            </a:endParaRPr>
          </a:p>
        </p:txBody>
      </p:sp>
      <p:sp>
        <p:nvSpPr>
          <p:cNvPr id="24" name="Shape 18"/>
          <p:cNvSpPr/>
          <p:nvPr/>
        </p:nvSpPr>
        <p:spPr>
          <a:xfrm>
            <a:off x="640080" y="5870448"/>
            <a:ext cx="10881360" cy="457200"/>
          </a:xfrm>
          <a:prstGeom prst="roundRect">
            <a:avLst>
              <a:gd name="adj" fmla="val 16000"/>
            </a:avLst>
          </a:prstGeom>
          <a:solidFill>
            <a:srgbClr val="16513A"/>
          </a:solidFill>
          <a:ln/>
        </p:spPr>
      </p:sp>
      <p:sp>
        <p:nvSpPr>
          <p:cNvPr id="25" name="Text 19"/>
          <p:cNvSpPr/>
          <p:nvPr/>
        </p:nvSpPr>
        <p:spPr>
          <a:xfrm>
            <a:off x="914400" y="5870448"/>
            <a:ext cx="10332720" cy="457200"/>
          </a:xfrm>
          <a:prstGeom prst="rect">
            <a:avLst/>
          </a:prstGeom>
          <a:noFill/>
          <a:ln/>
        </p:spPr>
        <p:txBody>
          <a:bodyPr wrap="square" rtlCol="0" anchor="ctr"/>
          <a:lstStyle/>
          <a:p>
            <a:pPr marL="0" indent="0">
              <a:buNone/>
            </a:pPr>
            <a:r>
              <a:rPr lang="en-US" sz="1200" i="1">
                <a:solidFill>
                  <a:srgbClr val="FFFFFF"/>
                </a:solidFill>
                <a:latin typeface="Calibri" pitchFamily="34" charset="0"/>
                <a:ea typeface="Calibri" pitchFamily="34" charset="-122"/>
                <a:cs typeface="Calibri" pitchFamily="34" charset="-120"/>
              </a:rPr>
              <a:t>Status: all four objectives from the original proposal were successfully implemented in the final build.</a:t>
            </a:r>
            <a:endParaRPr lang="en-US" sz="1200"/>
          </a:p>
        </p:txBody>
      </p:sp>
      <p:sp>
        <p:nvSpPr>
          <p:cNvPr id="26" name="Text 20"/>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27" name="Text 21"/>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03  Proposed Solution</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500" b="1">
                <a:solidFill>
                  <a:srgbClr val="1E2B24"/>
                </a:solidFill>
                <a:latin typeface="Cambria" pitchFamily="34" charset="0"/>
                <a:ea typeface="Cambria" pitchFamily="34" charset="-122"/>
                <a:cs typeface="Cambria" pitchFamily="34" charset="-120"/>
              </a:rPr>
              <a:t>A structured analytical pipeline, from raw data to decision-support dashboard</a:t>
            </a:r>
            <a:endParaRPr lang="en-US" sz="2500"/>
          </a:p>
        </p:txBody>
      </p:sp>
      <p:sp>
        <p:nvSpPr>
          <p:cNvPr id="4" name="Shape 2"/>
          <p:cNvSpPr/>
          <p:nvPr/>
        </p:nvSpPr>
        <p:spPr>
          <a:xfrm>
            <a:off x="1362456" y="2148840"/>
            <a:ext cx="731520" cy="731520"/>
          </a:xfrm>
          <a:prstGeom prst="ellipse">
            <a:avLst/>
          </a:prstGeom>
          <a:solidFill>
            <a:srgbClr val="1F6F4A"/>
          </a:solidFill>
          <a:ln/>
        </p:spPr>
      </p:sp>
      <p:pic>
        <p:nvPicPr>
          <p:cNvPr id="5" name="Image 0" descr="icons/database_FFFFFF.png"/>
          <p:cNvPicPr>
            <a:picLocks noChangeAspect="1"/>
          </p:cNvPicPr>
          <p:nvPr/>
        </p:nvPicPr>
        <p:blipFill>
          <a:blip r:embed="rId3"/>
          <a:stretch>
            <a:fillRect/>
          </a:stretch>
        </p:blipFill>
        <p:spPr>
          <a:xfrm>
            <a:off x="1508760" y="2295144"/>
            <a:ext cx="438912" cy="438912"/>
          </a:xfrm>
          <a:prstGeom prst="rect">
            <a:avLst/>
          </a:prstGeom>
        </p:spPr>
      </p:pic>
      <p:sp>
        <p:nvSpPr>
          <p:cNvPr id="6" name="Shape 3"/>
          <p:cNvSpPr/>
          <p:nvPr/>
        </p:nvSpPr>
        <p:spPr>
          <a:xfrm>
            <a:off x="2112264" y="2514600"/>
            <a:ext cx="1408176" cy="0"/>
          </a:xfrm>
          <a:prstGeom prst="line">
            <a:avLst/>
          </a:prstGeom>
          <a:noFill/>
          <a:ln w="25400">
            <a:solidFill>
              <a:srgbClr val="BFD9CC"/>
            </a:solidFill>
            <a:prstDash val="dash"/>
          </a:ln>
        </p:spPr>
      </p:sp>
      <p:sp>
        <p:nvSpPr>
          <p:cNvPr id="7" name="Text 4"/>
          <p:cNvSpPr/>
          <p:nvPr/>
        </p:nvSpPr>
        <p:spPr>
          <a:xfrm>
            <a:off x="777240" y="3017520"/>
            <a:ext cx="1901952" cy="274320"/>
          </a:xfrm>
          <a:prstGeom prst="rect">
            <a:avLst/>
          </a:prstGeom>
          <a:noFill/>
          <a:ln/>
        </p:spPr>
        <p:txBody>
          <a:bodyPr wrap="square" rtlCol="0" anchor="ctr"/>
          <a:lstStyle/>
          <a:p>
            <a:pPr marL="0" indent="0" algn="ctr">
              <a:buNone/>
            </a:pPr>
            <a:r>
              <a:rPr lang="en-US" sz="1100" b="1">
                <a:solidFill>
                  <a:srgbClr val="D98E30"/>
                </a:solidFill>
                <a:latin typeface="Calibri" pitchFamily="34" charset="0"/>
                <a:ea typeface="Calibri" pitchFamily="34" charset="-122"/>
                <a:cs typeface="Calibri" pitchFamily="34" charset="-120"/>
              </a:rPr>
              <a:t>01</a:t>
            </a:r>
            <a:endParaRPr lang="en-US" sz="1100"/>
          </a:p>
        </p:txBody>
      </p:sp>
      <p:sp>
        <p:nvSpPr>
          <p:cNvPr id="8" name="Text 5"/>
          <p:cNvSpPr/>
          <p:nvPr/>
        </p:nvSpPr>
        <p:spPr>
          <a:xfrm>
            <a:off x="731520" y="3291840"/>
            <a:ext cx="1993392" cy="502920"/>
          </a:xfrm>
          <a:prstGeom prst="rect">
            <a:avLst/>
          </a:prstGeom>
          <a:noFill/>
          <a:ln/>
        </p:spPr>
        <p:txBody>
          <a:bodyPr wrap="square" lIns="91440" tIns="45720" rIns="91440" bIns="45720" rtlCol="0" anchor="ctr"/>
          <a:lstStyle/>
          <a:p>
            <a:pPr marL="0" indent="0" algn="ctr">
              <a:buNone/>
            </a:pPr>
            <a:r>
              <a:rPr lang="en-US" sz="1600" b="1">
                <a:solidFill>
                  <a:srgbClr val="1E2B24"/>
                </a:solidFill>
                <a:latin typeface="Cambria"/>
                <a:ea typeface="Cambria"/>
                <a:cs typeface="Cambria" pitchFamily="34" charset="-120"/>
              </a:rPr>
              <a:t>Data Preparation</a:t>
            </a:r>
            <a:endParaRPr lang="en-US" sz="1600">
              <a:latin typeface="Cambria"/>
              <a:ea typeface="Cambria"/>
            </a:endParaRPr>
          </a:p>
        </p:txBody>
      </p:sp>
      <p:sp>
        <p:nvSpPr>
          <p:cNvPr id="9" name="Text 6"/>
          <p:cNvSpPr/>
          <p:nvPr/>
        </p:nvSpPr>
        <p:spPr>
          <a:xfrm>
            <a:off x="777240" y="3840480"/>
            <a:ext cx="1901952" cy="1463040"/>
          </a:xfrm>
          <a:prstGeom prst="rect">
            <a:avLst/>
          </a:prstGeom>
          <a:noFill/>
          <a:ln/>
        </p:spPr>
        <p:txBody>
          <a:bodyPr wrap="square" lIns="91440" tIns="45720" rIns="91440" bIns="45720" rtlCol="0" anchor="t"/>
          <a:lstStyle/>
          <a:p>
            <a:pPr marL="0" indent="0" algn="ctr">
              <a:lnSpc>
                <a:spcPct val="115000"/>
              </a:lnSpc>
              <a:buNone/>
            </a:pPr>
            <a:r>
              <a:rPr lang="en-US" sz="1600">
                <a:solidFill>
                  <a:srgbClr val="5B6B62"/>
                </a:solidFill>
                <a:latin typeface="Calibri"/>
                <a:ea typeface="Calibri"/>
                <a:cs typeface="Calibri"/>
              </a:rPr>
              <a:t>Standardize units, harmonize country codes, remove duplicates, handle missing values, align years</a:t>
            </a:r>
            <a:endParaRPr lang="en-US" sz="1600">
              <a:latin typeface="Calibri"/>
              <a:ea typeface="Calibri"/>
              <a:cs typeface="Calibri"/>
            </a:endParaRPr>
          </a:p>
        </p:txBody>
      </p:sp>
      <p:sp>
        <p:nvSpPr>
          <p:cNvPr id="10" name="Shape 7"/>
          <p:cNvSpPr/>
          <p:nvPr/>
        </p:nvSpPr>
        <p:spPr>
          <a:xfrm>
            <a:off x="3538728" y="2148840"/>
            <a:ext cx="731520" cy="731520"/>
          </a:xfrm>
          <a:prstGeom prst="ellipse">
            <a:avLst/>
          </a:prstGeom>
          <a:solidFill>
            <a:srgbClr val="1F6F4A"/>
          </a:solidFill>
          <a:ln/>
        </p:spPr>
      </p:sp>
      <p:pic>
        <p:nvPicPr>
          <p:cNvPr id="11" name="Image 1" descr="icons/chartbar_FFFFFF.png"/>
          <p:cNvPicPr>
            <a:picLocks noChangeAspect="1"/>
          </p:cNvPicPr>
          <p:nvPr/>
        </p:nvPicPr>
        <p:blipFill>
          <a:blip r:embed="rId4"/>
          <a:stretch>
            <a:fillRect/>
          </a:stretch>
        </p:blipFill>
        <p:spPr>
          <a:xfrm>
            <a:off x="3685032" y="2295144"/>
            <a:ext cx="438912" cy="438912"/>
          </a:xfrm>
          <a:prstGeom prst="rect">
            <a:avLst/>
          </a:prstGeom>
        </p:spPr>
      </p:pic>
      <p:sp>
        <p:nvSpPr>
          <p:cNvPr id="12" name="Shape 8"/>
          <p:cNvSpPr/>
          <p:nvPr/>
        </p:nvSpPr>
        <p:spPr>
          <a:xfrm>
            <a:off x="4288536" y="2514600"/>
            <a:ext cx="1408176" cy="0"/>
          </a:xfrm>
          <a:prstGeom prst="line">
            <a:avLst/>
          </a:prstGeom>
          <a:noFill/>
          <a:ln w="25400">
            <a:solidFill>
              <a:srgbClr val="BFD9CC"/>
            </a:solidFill>
            <a:prstDash val="dash"/>
          </a:ln>
        </p:spPr>
      </p:sp>
      <p:sp>
        <p:nvSpPr>
          <p:cNvPr id="13" name="Text 9"/>
          <p:cNvSpPr/>
          <p:nvPr/>
        </p:nvSpPr>
        <p:spPr>
          <a:xfrm>
            <a:off x="2953512" y="3017520"/>
            <a:ext cx="1901952" cy="274320"/>
          </a:xfrm>
          <a:prstGeom prst="rect">
            <a:avLst/>
          </a:prstGeom>
          <a:noFill/>
          <a:ln/>
        </p:spPr>
        <p:txBody>
          <a:bodyPr wrap="square" rtlCol="0" anchor="ctr"/>
          <a:lstStyle/>
          <a:p>
            <a:pPr marL="0" indent="0" algn="ctr">
              <a:buNone/>
            </a:pPr>
            <a:r>
              <a:rPr lang="en-US" sz="1100" b="1">
                <a:solidFill>
                  <a:srgbClr val="D98E30"/>
                </a:solidFill>
                <a:latin typeface="Calibri" pitchFamily="34" charset="0"/>
                <a:ea typeface="Calibri" pitchFamily="34" charset="-122"/>
                <a:cs typeface="Calibri" pitchFamily="34" charset="-120"/>
              </a:rPr>
              <a:t>02</a:t>
            </a:r>
            <a:endParaRPr lang="en-US" sz="1100"/>
          </a:p>
        </p:txBody>
      </p:sp>
      <p:sp>
        <p:nvSpPr>
          <p:cNvPr id="14" name="Text 10"/>
          <p:cNvSpPr/>
          <p:nvPr/>
        </p:nvSpPr>
        <p:spPr>
          <a:xfrm>
            <a:off x="2907792" y="3291840"/>
            <a:ext cx="1993392" cy="502920"/>
          </a:xfrm>
          <a:prstGeom prst="rect">
            <a:avLst/>
          </a:prstGeom>
          <a:noFill/>
          <a:ln/>
        </p:spPr>
        <p:txBody>
          <a:bodyPr wrap="square" lIns="91440" tIns="45720" rIns="91440" bIns="45720" rtlCol="0" anchor="ctr"/>
          <a:lstStyle/>
          <a:p>
            <a:pPr marL="0" indent="0" algn="ctr">
              <a:buNone/>
            </a:pPr>
            <a:r>
              <a:rPr lang="en-US" sz="1600" b="1">
                <a:solidFill>
                  <a:srgbClr val="1E2B24"/>
                </a:solidFill>
                <a:latin typeface="Cambria"/>
                <a:ea typeface="Cambria"/>
                <a:cs typeface="Cambria" pitchFamily="34" charset="-120"/>
              </a:rPr>
              <a:t>Descriptive Analysis</a:t>
            </a:r>
            <a:endParaRPr lang="en-US" sz="1600">
              <a:latin typeface="Cambria"/>
              <a:ea typeface="Cambria"/>
            </a:endParaRPr>
          </a:p>
        </p:txBody>
      </p:sp>
      <p:sp>
        <p:nvSpPr>
          <p:cNvPr id="15" name="Text 11"/>
          <p:cNvSpPr/>
          <p:nvPr/>
        </p:nvSpPr>
        <p:spPr>
          <a:xfrm>
            <a:off x="2953512" y="3840480"/>
            <a:ext cx="1901952" cy="1463040"/>
          </a:xfrm>
          <a:prstGeom prst="rect">
            <a:avLst/>
          </a:prstGeom>
          <a:noFill/>
          <a:ln/>
        </p:spPr>
        <p:txBody>
          <a:bodyPr wrap="square" lIns="91440" tIns="45720" rIns="91440" bIns="45720" rtlCol="0" anchor="t"/>
          <a:lstStyle/>
          <a:p>
            <a:pPr marL="0" indent="0" algn="ctr">
              <a:lnSpc>
                <a:spcPct val="115000"/>
              </a:lnSpc>
              <a:buNone/>
            </a:pPr>
            <a:r>
              <a:rPr lang="en-US" sz="1600">
                <a:solidFill>
                  <a:srgbClr val="5B6B62"/>
                </a:solidFill>
                <a:latin typeface="Calibri"/>
                <a:ea typeface="Calibri"/>
                <a:cs typeface="Calibri"/>
              </a:rPr>
              <a:t>Baseline production volumes, food loss quantities, and crop-level waste contributions</a:t>
            </a:r>
            <a:endParaRPr lang="en-US" sz="1600">
              <a:latin typeface="Calibri"/>
              <a:ea typeface="Calibri"/>
              <a:cs typeface="Calibri"/>
            </a:endParaRPr>
          </a:p>
        </p:txBody>
      </p:sp>
      <p:sp>
        <p:nvSpPr>
          <p:cNvPr id="16" name="Shape 12"/>
          <p:cNvSpPr/>
          <p:nvPr/>
        </p:nvSpPr>
        <p:spPr>
          <a:xfrm>
            <a:off x="5715000" y="2148840"/>
            <a:ext cx="731520" cy="731520"/>
          </a:xfrm>
          <a:prstGeom prst="ellipse">
            <a:avLst/>
          </a:prstGeom>
          <a:solidFill>
            <a:srgbClr val="1F6F4A"/>
          </a:solidFill>
          <a:ln/>
        </p:spPr>
      </p:sp>
      <p:pic>
        <p:nvPicPr>
          <p:cNvPr id="17" name="Image 2" descr="icons/balance_FFFFFF.png"/>
          <p:cNvPicPr>
            <a:picLocks noChangeAspect="1"/>
          </p:cNvPicPr>
          <p:nvPr/>
        </p:nvPicPr>
        <p:blipFill>
          <a:blip r:embed="rId5"/>
          <a:stretch>
            <a:fillRect/>
          </a:stretch>
        </p:blipFill>
        <p:spPr>
          <a:xfrm>
            <a:off x="5861304" y="2295144"/>
            <a:ext cx="438912" cy="438912"/>
          </a:xfrm>
          <a:prstGeom prst="rect">
            <a:avLst/>
          </a:prstGeom>
        </p:spPr>
      </p:pic>
      <p:sp>
        <p:nvSpPr>
          <p:cNvPr id="18" name="Shape 13"/>
          <p:cNvSpPr/>
          <p:nvPr/>
        </p:nvSpPr>
        <p:spPr>
          <a:xfrm>
            <a:off x="6464808" y="2514600"/>
            <a:ext cx="1408176" cy="0"/>
          </a:xfrm>
          <a:prstGeom prst="line">
            <a:avLst/>
          </a:prstGeom>
          <a:noFill/>
          <a:ln w="25400">
            <a:solidFill>
              <a:srgbClr val="BFD9CC"/>
            </a:solidFill>
            <a:prstDash val="dash"/>
          </a:ln>
        </p:spPr>
      </p:sp>
      <p:sp>
        <p:nvSpPr>
          <p:cNvPr id="19" name="Text 14"/>
          <p:cNvSpPr/>
          <p:nvPr/>
        </p:nvSpPr>
        <p:spPr>
          <a:xfrm>
            <a:off x="5129784" y="3017520"/>
            <a:ext cx="1901952" cy="274320"/>
          </a:xfrm>
          <a:prstGeom prst="rect">
            <a:avLst/>
          </a:prstGeom>
          <a:noFill/>
          <a:ln/>
        </p:spPr>
        <p:txBody>
          <a:bodyPr wrap="square" rtlCol="0" anchor="ctr"/>
          <a:lstStyle/>
          <a:p>
            <a:pPr marL="0" indent="0" algn="ctr">
              <a:buNone/>
            </a:pPr>
            <a:r>
              <a:rPr lang="en-US" sz="1100" b="1">
                <a:solidFill>
                  <a:srgbClr val="D98E30"/>
                </a:solidFill>
                <a:latin typeface="Calibri" pitchFamily="34" charset="0"/>
                <a:ea typeface="Calibri" pitchFamily="34" charset="-122"/>
                <a:cs typeface="Calibri" pitchFamily="34" charset="-120"/>
              </a:rPr>
              <a:t>03</a:t>
            </a:r>
            <a:endParaRPr lang="en-US" sz="1100"/>
          </a:p>
        </p:txBody>
      </p:sp>
      <p:sp>
        <p:nvSpPr>
          <p:cNvPr id="20" name="Text 15"/>
          <p:cNvSpPr/>
          <p:nvPr/>
        </p:nvSpPr>
        <p:spPr>
          <a:xfrm>
            <a:off x="5084064" y="3291840"/>
            <a:ext cx="1993392" cy="502920"/>
          </a:xfrm>
          <a:prstGeom prst="rect">
            <a:avLst/>
          </a:prstGeom>
          <a:noFill/>
          <a:ln/>
        </p:spPr>
        <p:txBody>
          <a:bodyPr wrap="square" lIns="91440" tIns="45720" rIns="91440" bIns="45720" rtlCol="0" anchor="ctr"/>
          <a:lstStyle/>
          <a:p>
            <a:pPr marL="0" indent="0" algn="ctr">
              <a:buNone/>
            </a:pPr>
            <a:r>
              <a:rPr lang="en-US" sz="1600" b="1">
                <a:solidFill>
                  <a:srgbClr val="1E2B24"/>
                </a:solidFill>
                <a:latin typeface="Cambria"/>
                <a:ea typeface="Cambria"/>
                <a:cs typeface="Cambria" pitchFamily="34" charset="-120"/>
              </a:rPr>
              <a:t>Socioeconomic Correlation</a:t>
            </a:r>
            <a:endParaRPr lang="en-US" sz="1600">
              <a:latin typeface="Cambria"/>
              <a:ea typeface="Cambria"/>
            </a:endParaRPr>
          </a:p>
        </p:txBody>
      </p:sp>
      <p:sp>
        <p:nvSpPr>
          <p:cNvPr id="21" name="Text 16"/>
          <p:cNvSpPr/>
          <p:nvPr/>
        </p:nvSpPr>
        <p:spPr>
          <a:xfrm>
            <a:off x="5129784" y="3840480"/>
            <a:ext cx="1901952" cy="1463040"/>
          </a:xfrm>
          <a:prstGeom prst="rect">
            <a:avLst/>
          </a:prstGeom>
          <a:noFill/>
          <a:ln/>
        </p:spPr>
        <p:txBody>
          <a:bodyPr wrap="square" lIns="91440" tIns="45720" rIns="91440" bIns="45720" rtlCol="0" anchor="t"/>
          <a:lstStyle/>
          <a:p>
            <a:pPr algn="ctr">
              <a:lnSpc>
                <a:spcPct val="115000"/>
              </a:lnSpc>
            </a:pPr>
            <a:r>
              <a:rPr lang="en-US" sz="1600">
                <a:solidFill>
                  <a:srgbClr val="5B6B62"/>
                </a:solidFill>
                <a:latin typeface="Calibri"/>
                <a:ea typeface="Calibri"/>
                <a:cs typeface="Calibri"/>
              </a:rPr>
              <a:t>Link waste indicators to unemployment and food-system emissions</a:t>
            </a:r>
            <a:endParaRPr lang="en-US" sz="1600">
              <a:latin typeface="Calibri"/>
              <a:ea typeface="Calibri"/>
              <a:cs typeface="Calibri"/>
            </a:endParaRPr>
          </a:p>
        </p:txBody>
      </p:sp>
      <p:sp>
        <p:nvSpPr>
          <p:cNvPr id="22" name="Shape 17"/>
          <p:cNvSpPr/>
          <p:nvPr/>
        </p:nvSpPr>
        <p:spPr>
          <a:xfrm>
            <a:off x="7891272" y="2148840"/>
            <a:ext cx="731520" cy="731520"/>
          </a:xfrm>
          <a:prstGeom prst="ellipse">
            <a:avLst/>
          </a:prstGeom>
          <a:solidFill>
            <a:srgbClr val="1F6F4A"/>
          </a:solidFill>
          <a:ln/>
        </p:spPr>
      </p:sp>
      <p:pic>
        <p:nvPicPr>
          <p:cNvPr id="23" name="Image 3" descr="icons/globeafrica_FFFFFF.png"/>
          <p:cNvPicPr>
            <a:picLocks noChangeAspect="1"/>
          </p:cNvPicPr>
          <p:nvPr/>
        </p:nvPicPr>
        <p:blipFill>
          <a:blip r:embed="rId6"/>
          <a:stretch>
            <a:fillRect/>
          </a:stretch>
        </p:blipFill>
        <p:spPr>
          <a:xfrm>
            <a:off x="8037576" y="2295144"/>
            <a:ext cx="438912" cy="438912"/>
          </a:xfrm>
          <a:prstGeom prst="rect">
            <a:avLst/>
          </a:prstGeom>
        </p:spPr>
      </p:pic>
      <p:sp>
        <p:nvSpPr>
          <p:cNvPr id="24" name="Shape 18"/>
          <p:cNvSpPr/>
          <p:nvPr/>
        </p:nvSpPr>
        <p:spPr>
          <a:xfrm>
            <a:off x="8641080" y="2514600"/>
            <a:ext cx="1408176" cy="0"/>
          </a:xfrm>
          <a:prstGeom prst="line">
            <a:avLst/>
          </a:prstGeom>
          <a:noFill/>
          <a:ln w="25400">
            <a:solidFill>
              <a:srgbClr val="BFD9CC"/>
            </a:solidFill>
            <a:prstDash val="dash"/>
          </a:ln>
        </p:spPr>
      </p:sp>
      <p:sp>
        <p:nvSpPr>
          <p:cNvPr id="25" name="Text 19"/>
          <p:cNvSpPr/>
          <p:nvPr/>
        </p:nvSpPr>
        <p:spPr>
          <a:xfrm>
            <a:off x="7306056" y="3017520"/>
            <a:ext cx="1901952" cy="274320"/>
          </a:xfrm>
          <a:prstGeom prst="rect">
            <a:avLst/>
          </a:prstGeom>
          <a:noFill/>
          <a:ln/>
        </p:spPr>
        <p:txBody>
          <a:bodyPr wrap="square" rtlCol="0" anchor="ctr"/>
          <a:lstStyle/>
          <a:p>
            <a:pPr marL="0" indent="0" algn="ctr">
              <a:buNone/>
            </a:pPr>
            <a:r>
              <a:rPr lang="en-US" sz="1100" b="1">
                <a:solidFill>
                  <a:srgbClr val="D98E30"/>
                </a:solidFill>
                <a:latin typeface="Calibri" pitchFamily="34" charset="0"/>
                <a:ea typeface="Calibri" pitchFamily="34" charset="-122"/>
                <a:cs typeface="Calibri" pitchFamily="34" charset="-120"/>
              </a:rPr>
              <a:t>04</a:t>
            </a:r>
            <a:endParaRPr lang="en-US" sz="1100"/>
          </a:p>
        </p:txBody>
      </p:sp>
      <p:sp>
        <p:nvSpPr>
          <p:cNvPr id="26" name="Text 20"/>
          <p:cNvSpPr/>
          <p:nvPr/>
        </p:nvSpPr>
        <p:spPr>
          <a:xfrm>
            <a:off x="7260336" y="3291840"/>
            <a:ext cx="1993392" cy="502920"/>
          </a:xfrm>
          <a:prstGeom prst="rect">
            <a:avLst/>
          </a:prstGeom>
          <a:noFill/>
          <a:ln/>
        </p:spPr>
        <p:txBody>
          <a:bodyPr wrap="square" lIns="91440" tIns="45720" rIns="91440" bIns="45720" rtlCol="0" anchor="ctr"/>
          <a:lstStyle/>
          <a:p>
            <a:pPr marL="0" indent="0" algn="ctr">
              <a:buNone/>
            </a:pPr>
            <a:r>
              <a:rPr lang="en-US" sz="1600" b="1">
                <a:solidFill>
                  <a:srgbClr val="1E2B24"/>
                </a:solidFill>
                <a:latin typeface="Cambria"/>
                <a:ea typeface="Cambria"/>
                <a:cs typeface="Cambria" pitchFamily="34" charset="-120"/>
              </a:rPr>
              <a:t>Comparative Country Analysis</a:t>
            </a:r>
            <a:endParaRPr lang="en-US" sz="1600">
              <a:latin typeface="Cambria"/>
              <a:ea typeface="Cambria"/>
            </a:endParaRPr>
          </a:p>
        </p:txBody>
      </p:sp>
      <p:sp>
        <p:nvSpPr>
          <p:cNvPr id="27" name="Text 21"/>
          <p:cNvSpPr/>
          <p:nvPr/>
        </p:nvSpPr>
        <p:spPr>
          <a:xfrm>
            <a:off x="7306056" y="3840480"/>
            <a:ext cx="1901952" cy="1463040"/>
          </a:xfrm>
          <a:prstGeom prst="rect">
            <a:avLst/>
          </a:prstGeom>
          <a:noFill/>
          <a:ln/>
        </p:spPr>
        <p:txBody>
          <a:bodyPr wrap="square" lIns="91440" tIns="45720" rIns="91440" bIns="45720" rtlCol="0" anchor="t"/>
          <a:lstStyle/>
          <a:p>
            <a:pPr marL="0" indent="0" algn="ctr">
              <a:lnSpc>
                <a:spcPct val="115000"/>
              </a:lnSpc>
              <a:buNone/>
            </a:pPr>
            <a:r>
              <a:rPr lang="en-US" sz="1600">
                <a:solidFill>
                  <a:srgbClr val="5B6B62"/>
                </a:solidFill>
                <a:latin typeface="Calibri"/>
                <a:ea typeface="Calibri"/>
                <a:cs typeface="Calibri"/>
              </a:rPr>
              <a:t>Standardized cross-country metrics to prioritize interventions with evidence</a:t>
            </a:r>
            <a:endParaRPr lang="en-US" sz="1600">
              <a:latin typeface="Calibri"/>
              <a:ea typeface="Calibri"/>
              <a:cs typeface="Calibri"/>
            </a:endParaRPr>
          </a:p>
        </p:txBody>
      </p:sp>
      <p:sp>
        <p:nvSpPr>
          <p:cNvPr id="28" name="Shape 22"/>
          <p:cNvSpPr/>
          <p:nvPr/>
        </p:nvSpPr>
        <p:spPr>
          <a:xfrm>
            <a:off x="10067544" y="2148840"/>
            <a:ext cx="731520" cy="731520"/>
          </a:xfrm>
          <a:prstGeom prst="ellipse">
            <a:avLst/>
          </a:prstGeom>
          <a:solidFill>
            <a:srgbClr val="1F6F4A"/>
          </a:solidFill>
          <a:ln/>
        </p:spPr>
      </p:sp>
      <p:pic>
        <p:nvPicPr>
          <p:cNvPr id="29" name="Image 4" descr="icons/projectdiagram_FFFFFF.png"/>
          <p:cNvPicPr>
            <a:picLocks noChangeAspect="1"/>
          </p:cNvPicPr>
          <p:nvPr/>
        </p:nvPicPr>
        <p:blipFill>
          <a:blip r:embed="rId7"/>
          <a:stretch>
            <a:fillRect/>
          </a:stretch>
        </p:blipFill>
        <p:spPr>
          <a:xfrm>
            <a:off x="10213848" y="2295144"/>
            <a:ext cx="438912" cy="438912"/>
          </a:xfrm>
          <a:prstGeom prst="rect">
            <a:avLst/>
          </a:prstGeom>
        </p:spPr>
      </p:pic>
      <p:sp>
        <p:nvSpPr>
          <p:cNvPr id="30" name="Text 23"/>
          <p:cNvSpPr/>
          <p:nvPr/>
        </p:nvSpPr>
        <p:spPr>
          <a:xfrm>
            <a:off x="9482328" y="3017520"/>
            <a:ext cx="1901952" cy="274320"/>
          </a:xfrm>
          <a:prstGeom prst="rect">
            <a:avLst/>
          </a:prstGeom>
          <a:noFill/>
          <a:ln/>
        </p:spPr>
        <p:txBody>
          <a:bodyPr wrap="square" rtlCol="0" anchor="ctr"/>
          <a:lstStyle/>
          <a:p>
            <a:pPr marL="0" indent="0" algn="ctr">
              <a:buNone/>
            </a:pPr>
            <a:r>
              <a:rPr lang="en-US" sz="1100" b="1">
                <a:solidFill>
                  <a:srgbClr val="D98E30"/>
                </a:solidFill>
                <a:latin typeface="Calibri" pitchFamily="34" charset="0"/>
                <a:ea typeface="Calibri" pitchFamily="34" charset="-122"/>
                <a:cs typeface="Calibri" pitchFamily="34" charset="-120"/>
              </a:rPr>
              <a:t>05</a:t>
            </a:r>
            <a:endParaRPr lang="en-US" sz="1100"/>
          </a:p>
        </p:txBody>
      </p:sp>
      <p:sp>
        <p:nvSpPr>
          <p:cNvPr id="31" name="Text 24"/>
          <p:cNvSpPr/>
          <p:nvPr/>
        </p:nvSpPr>
        <p:spPr>
          <a:xfrm>
            <a:off x="9436608" y="3291840"/>
            <a:ext cx="1993392" cy="502920"/>
          </a:xfrm>
          <a:prstGeom prst="rect">
            <a:avLst/>
          </a:prstGeom>
          <a:noFill/>
          <a:ln/>
        </p:spPr>
        <p:txBody>
          <a:bodyPr wrap="square" lIns="91440" tIns="45720" rIns="91440" bIns="45720" rtlCol="0" anchor="ctr"/>
          <a:lstStyle/>
          <a:p>
            <a:pPr marL="0" indent="0" algn="ctr">
              <a:buNone/>
            </a:pPr>
            <a:r>
              <a:rPr lang="en-US" sz="1600" b="1">
                <a:solidFill>
                  <a:srgbClr val="1E2B24"/>
                </a:solidFill>
                <a:latin typeface="Cambria"/>
                <a:ea typeface="Cambria"/>
                <a:cs typeface="Cambria" pitchFamily="34" charset="-120"/>
              </a:rPr>
              <a:t>Power BI Dashboard</a:t>
            </a:r>
            <a:endParaRPr lang="en-US" sz="1600">
              <a:latin typeface="Cambria"/>
              <a:ea typeface="Cambria"/>
            </a:endParaRPr>
          </a:p>
        </p:txBody>
      </p:sp>
      <p:sp>
        <p:nvSpPr>
          <p:cNvPr id="32" name="Text 25"/>
          <p:cNvSpPr/>
          <p:nvPr/>
        </p:nvSpPr>
        <p:spPr>
          <a:xfrm>
            <a:off x="9482328" y="3840480"/>
            <a:ext cx="1901952" cy="1463040"/>
          </a:xfrm>
          <a:prstGeom prst="rect">
            <a:avLst/>
          </a:prstGeom>
          <a:noFill/>
          <a:ln/>
        </p:spPr>
        <p:txBody>
          <a:bodyPr wrap="square" lIns="91440" tIns="45720" rIns="91440" bIns="45720" rtlCol="0" anchor="t"/>
          <a:lstStyle/>
          <a:p>
            <a:pPr marL="0" indent="0" algn="ctr">
              <a:lnSpc>
                <a:spcPct val="115000"/>
              </a:lnSpc>
              <a:buNone/>
            </a:pPr>
            <a:r>
              <a:rPr lang="en-US" sz="1600">
                <a:solidFill>
                  <a:srgbClr val="5B6B62"/>
                </a:solidFill>
                <a:latin typeface="Calibri"/>
                <a:ea typeface="Calibri"/>
                <a:cs typeface="Calibri"/>
              </a:rPr>
              <a:t>Interactive, filterable decision-support tool for non-technical stakeholders</a:t>
            </a:r>
            <a:endParaRPr lang="en-US" sz="1600">
              <a:latin typeface="Calibri"/>
              <a:ea typeface="Calibri"/>
              <a:cs typeface="Calibri"/>
            </a:endParaRPr>
          </a:p>
        </p:txBody>
      </p:sp>
      <p:sp>
        <p:nvSpPr>
          <p:cNvPr id="33" name="Shape 26"/>
          <p:cNvSpPr/>
          <p:nvPr/>
        </p:nvSpPr>
        <p:spPr>
          <a:xfrm>
            <a:off x="640080" y="5623560"/>
            <a:ext cx="10881360" cy="685800"/>
          </a:xfrm>
          <a:prstGeom prst="roundRect">
            <a:avLst>
              <a:gd name="adj" fmla="val 10667"/>
            </a:avLst>
          </a:prstGeom>
          <a:solidFill>
            <a:srgbClr val="16513A"/>
          </a:solidFill>
          <a:ln/>
        </p:spPr>
      </p:sp>
      <p:sp>
        <p:nvSpPr>
          <p:cNvPr id="34" name="Text 27"/>
          <p:cNvSpPr/>
          <p:nvPr/>
        </p:nvSpPr>
        <p:spPr>
          <a:xfrm>
            <a:off x="914400" y="5623560"/>
            <a:ext cx="10332720" cy="685800"/>
          </a:xfrm>
          <a:prstGeom prst="rect">
            <a:avLst/>
          </a:prstGeom>
          <a:noFill/>
          <a:ln/>
        </p:spPr>
        <p:txBody>
          <a:bodyPr wrap="square" rtlCol="0" anchor="ctr"/>
          <a:lstStyle/>
          <a:p>
            <a:pPr marL="0" indent="0">
              <a:buNone/>
            </a:pPr>
            <a:r>
              <a:rPr lang="en-US" sz="1300" i="1">
                <a:solidFill>
                  <a:srgbClr val="FFFFFF"/>
                </a:solidFill>
                <a:latin typeface="Calibri" pitchFamily="34" charset="0"/>
                <a:ea typeface="Calibri" pitchFamily="34" charset="-122"/>
                <a:cs typeface="Calibri" pitchFamily="34" charset="-120"/>
              </a:rPr>
              <a:t>All four proposal objectives were carried through to completion in the final Power BI build.</a:t>
            </a:r>
            <a:endParaRPr lang="en-US" sz="1300"/>
          </a:p>
        </p:txBody>
      </p:sp>
      <p:sp>
        <p:nvSpPr>
          <p:cNvPr id="35" name="Text 28"/>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36" name="Text 29"/>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52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9FB8AB"/>
                </a:solidFill>
                <a:latin typeface="Calibri" pitchFamily="34" charset="0"/>
                <a:ea typeface="Calibri" pitchFamily="34" charset="-122"/>
                <a:cs typeface="Calibri" pitchFamily="34" charset="-120"/>
              </a:rPr>
              <a:t>04  Technology Stack</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Built on two complementary tools, each doing what it does best</a:t>
            </a:r>
            <a:endParaRPr lang="en-US" sz="2600"/>
          </a:p>
        </p:txBody>
      </p:sp>
      <p:sp>
        <p:nvSpPr>
          <p:cNvPr id="10" name="Shape 7"/>
          <p:cNvSpPr/>
          <p:nvPr/>
        </p:nvSpPr>
        <p:spPr>
          <a:xfrm>
            <a:off x="500954" y="2011680"/>
            <a:ext cx="3610428" cy="3931920"/>
          </a:xfrm>
          <a:prstGeom prst="roundRect">
            <a:avLst>
              <a:gd name="adj" fmla="val 2667"/>
            </a:avLst>
          </a:prstGeom>
          <a:solidFill>
            <a:srgbClr val="1A4433"/>
          </a:solidFill>
          <a:ln w="12700">
            <a:solidFill>
              <a:srgbClr val="2C5F45"/>
            </a:solidFill>
            <a:prstDash val="solid"/>
          </a:ln>
        </p:spPr>
      </p:sp>
      <p:sp>
        <p:nvSpPr>
          <p:cNvPr id="11" name="Shape 8"/>
          <p:cNvSpPr/>
          <p:nvPr/>
        </p:nvSpPr>
        <p:spPr>
          <a:xfrm>
            <a:off x="2072792" y="2514600"/>
            <a:ext cx="914400" cy="914400"/>
          </a:xfrm>
          <a:prstGeom prst="ellipse">
            <a:avLst/>
          </a:prstGeom>
          <a:solidFill>
            <a:srgbClr val="D98E30"/>
          </a:solidFill>
          <a:ln/>
        </p:spPr>
      </p:sp>
      <p:pic>
        <p:nvPicPr>
          <p:cNvPr id="12" name="Image 1" descr="icons/python_16513A.png"/>
          <p:cNvPicPr>
            <a:picLocks noChangeAspect="1"/>
          </p:cNvPicPr>
          <p:nvPr/>
        </p:nvPicPr>
        <p:blipFill>
          <a:blip r:embed="rId3"/>
          <a:stretch>
            <a:fillRect/>
          </a:stretch>
        </p:blipFill>
        <p:spPr>
          <a:xfrm>
            <a:off x="2209648" y="2685939"/>
            <a:ext cx="548640" cy="548640"/>
          </a:xfrm>
          <a:prstGeom prst="rect">
            <a:avLst/>
          </a:prstGeom>
        </p:spPr>
      </p:pic>
      <p:sp>
        <p:nvSpPr>
          <p:cNvPr id="13" name="Text 9"/>
          <p:cNvSpPr/>
          <p:nvPr/>
        </p:nvSpPr>
        <p:spPr>
          <a:xfrm>
            <a:off x="1109710" y="3520440"/>
            <a:ext cx="2849732" cy="491379"/>
          </a:xfrm>
          <a:prstGeom prst="rect">
            <a:avLst/>
          </a:prstGeom>
          <a:noFill/>
          <a:ln/>
        </p:spPr>
        <p:txBody>
          <a:bodyPr wrap="square" lIns="91440" tIns="45720" rIns="91440" bIns="45720" rtlCol="0" anchor="ctr"/>
          <a:lstStyle/>
          <a:p>
            <a:pPr algn="ctr"/>
            <a:endParaRPr lang="en-US" sz="2200">
              <a:solidFill>
                <a:srgbClr val="FFFFFF"/>
              </a:solidFill>
              <a:ea typeface="+mn-lt"/>
              <a:cs typeface="+mn-lt"/>
            </a:endParaRPr>
          </a:p>
          <a:p>
            <a:pPr algn="ctr"/>
            <a:r>
              <a:rPr lang="en-US" sz="2200" b="1">
                <a:solidFill>
                  <a:srgbClr val="FFFFFF"/>
                </a:solidFill>
                <a:latin typeface="Cambria"/>
                <a:ea typeface="Cambria"/>
                <a:cs typeface="Calibri" panose="020F0502020204030204"/>
              </a:rPr>
              <a:t>Python</a:t>
            </a:r>
            <a:endParaRPr lang="en-US"/>
          </a:p>
          <a:p>
            <a:pPr algn="ctr"/>
            <a:endParaRPr lang="en-US" sz="2200">
              <a:solidFill>
                <a:srgbClr val="FFFFFF"/>
              </a:solidFill>
              <a:ea typeface="+mn-lt"/>
              <a:cs typeface="+mn-lt"/>
            </a:endParaRPr>
          </a:p>
        </p:txBody>
      </p:sp>
      <p:sp>
        <p:nvSpPr>
          <p:cNvPr id="14" name="Text 10"/>
          <p:cNvSpPr/>
          <p:nvPr/>
        </p:nvSpPr>
        <p:spPr>
          <a:xfrm>
            <a:off x="1109710" y="3977639"/>
            <a:ext cx="2849732" cy="491379"/>
          </a:xfrm>
          <a:prstGeom prst="rect">
            <a:avLst/>
          </a:prstGeom>
          <a:noFill/>
          <a:ln/>
        </p:spPr>
        <p:txBody>
          <a:bodyPr wrap="square" rtlCol="0" anchor="ctr"/>
          <a:lstStyle/>
          <a:p>
            <a:pPr marL="0" indent="0" algn="ctr">
              <a:buNone/>
            </a:pPr>
            <a:r>
              <a:rPr lang="en-US" sz="1300" i="1">
                <a:solidFill>
                  <a:srgbClr val="D98E30"/>
                </a:solidFill>
                <a:latin typeface="Calibri" pitchFamily="34" charset="0"/>
                <a:ea typeface="Calibri" pitchFamily="34" charset="-122"/>
                <a:cs typeface="Calibri" pitchFamily="34" charset="-120"/>
              </a:rPr>
              <a:t>Cleaning &amp; wrangling</a:t>
            </a:r>
            <a:endParaRPr lang="en-US" sz="1300"/>
          </a:p>
        </p:txBody>
      </p:sp>
      <p:sp>
        <p:nvSpPr>
          <p:cNvPr id="15" name="Text 11"/>
          <p:cNvSpPr/>
          <p:nvPr/>
        </p:nvSpPr>
        <p:spPr>
          <a:xfrm>
            <a:off x="769468" y="4434840"/>
            <a:ext cx="3340893" cy="1280160"/>
          </a:xfrm>
          <a:prstGeom prst="rect">
            <a:avLst/>
          </a:prstGeom>
          <a:noFill/>
          <a:ln/>
        </p:spPr>
        <p:txBody>
          <a:bodyPr wrap="square" lIns="91440" tIns="45720" rIns="91440" bIns="45720" rtlCol="0" anchor="t"/>
          <a:lstStyle/>
          <a:p>
            <a:pPr marL="0" indent="0" algn="ctr">
              <a:lnSpc>
                <a:spcPct val="120000"/>
              </a:lnSpc>
              <a:buNone/>
            </a:pPr>
            <a:r>
              <a:rPr lang="en-US" sz="1600">
                <a:solidFill>
                  <a:srgbClr val="CFE3D8"/>
                </a:solidFill>
                <a:latin typeface="Calibri"/>
                <a:ea typeface="Calibri"/>
                <a:cs typeface="Calibri"/>
              </a:rPr>
              <a:t>Standardized units and country codes, removed duplicates, imputed or excluded missing values, and reshaped data for time-aligned comparisons.</a:t>
            </a:r>
            <a:endParaRPr lang="en-US" sz="1600">
              <a:latin typeface="Calibri"/>
              <a:ea typeface="Calibri"/>
              <a:cs typeface="Calibri"/>
            </a:endParaRPr>
          </a:p>
        </p:txBody>
      </p:sp>
      <p:sp>
        <p:nvSpPr>
          <p:cNvPr id="16" name="Shape 12"/>
          <p:cNvSpPr/>
          <p:nvPr/>
        </p:nvSpPr>
        <p:spPr>
          <a:xfrm>
            <a:off x="8130388" y="2011680"/>
            <a:ext cx="3429000" cy="3931920"/>
          </a:xfrm>
          <a:prstGeom prst="roundRect">
            <a:avLst>
              <a:gd name="adj" fmla="val 2667"/>
            </a:avLst>
          </a:prstGeom>
          <a:solidFill>
            <a:srgbClr val="1A4433"/>
          </a:solidFill>
          <a:ln w="12700">
            <a:solidFill>
              <a:srgbClr val="2C5F45"/>
            </a:solidFill>
            <a:prstDash val="solid"/>
          </a:ln>
        </p:spPr>
      </p:sp>
      <p:sp>
        <p:nvSpPr>
          <p:cNvPr id="17" name="Shape 13"/>
          <p:cNvSpPr/>
          <p:nvPr/>
        </p:nvSpPr>
        <p:spPr>
          <a:xfrm>
            <a:off x="9387688" y="2423160"/>
            <a:ext cx="914400" cy="914400"/>
          </a:xfrm>
          <a:prstGeom prst="ellipse">
            <a:avLst/>
          </a:prstGeom>
          <a:solidFill>
            <a:srgbClr val="D98E30"/>
          </a:solidFill>
          <a:ln/>
        </p:spPr>
      </p:sp>
      <p:pic>
        <p:nvPicPr>
          <p:cNvPr id="18" name="Image 2" descr="icons/powerbi_16513A.png"/>
          <p:cNvPicPr>
            <a:picLocks noChangeAspect="1"/>
          </p:cNvPicPr>
          <p:nvPr/>
        </p:nvPicPr>
        <p:blipFill>
          <a:blip r:embed="rId4"/>
          <a:stretch>
            <a:fillRect/>
          </a:stretch>
        </p:blipFill>
        <p:spPr>
          <a:xfrm>
            <a:off x="9570568" y="2606040"/>
            <a:ext cx="548640" cy="548640"/>
          </a:xfrm>
          <a:prstGeom prst="rect">
            <a:avLst/>
          </a:prstGeom>
        </p:spPr>
      </p:pic>
      <p:sp>
        <p:nvSpPr>
          <p:cNvPr id="19" name="Text 14"/>
          <p:cNvSpPr/>
          <p:nvPr/>
        </p:nvSpPr>
        <p:spPr>
          <a:xfrm>
            <a:off x="8130388" y="3520440"/>
            <a:ext cx="3429000" cy="457200"/>
          </a:xfrm>
          <a:prstGeom prst="rect">
            <a:avLst/>
          </a:prstGeom>
          <a:noFill/>
          <a:ln/>
        </p:spPr>
        <p:txBody>
          <a:bodyPr wrap="square"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Power BI</a:t>
            </a:r>
            <a:endParaRPr lang="en-US" sz="2200"/>
          </a:p>
        </p:txBody>
      </p:sp>
      <p:sp>
        <p:nvSpPr>
          <p:cNvPr id="20" name="Text 15"/>
          <p:cNvSpPr/>
          <p:nvPr/>
        </p:nvSpPr>
        <p:spPr>
          <a:xfrm>
            <a:off x="8130388" y="3977640"/>
            <a:ext cx="3429000" cy="365760"/>
          </a:xfrm>
          <a:prstGeom prst="rect">
            <a:avLst/>
          </a:prstGeom>
          <a:noFill/>
          <a:ln/>
        </p:spPr>
        <p:txBody>
          <a:bodyPr wrap="square" rtlCol="0" anchor="ctr"/>
          <a:lstStyle/>
          <a:p>
            <a:pPr marL="0" indent="0" algn="ctr">
              <a:buNone/>
            </a:pPr>
            <a:r>
              <a:rPr lang="en-US" sz="1300" i="1">
                <a:solidFill>
                  <a:srgbClr val="D98E30"/>
                </a:solidFill>
                <a:latin typeface="Calibri" pitchFamily="34" charset="0"/>
                <a:ea typeface="Calibri" pitchFamily="34" charset="-122"/>
                <a:cs typeface="Calibri" pitchFamily="34" charset="-120"/>
              </a:rPr>
              <a:t>Modeling &amp; visualization</a:t>
            </a:r>
            <a:endParaRPr lang="en-US" sz="1300"/>
          </a:p>
        </p:txBody>
      </p:sp>
      <p:sp>
        <p:nvSpPr>
          <p:cNvPr id="21" name="Text 16"/>
          <p:cNvSpPr/>
          <p:nvPr/>
        </p:nvSpPr>
        <p:spPr>
          <a:xfrm>
            <a:off x="8450428" y="4434840"/>
            <a:ext cx="2788920" cy="1280160"/>
          </a:xfrm>
          <a:prstGeom prst="rect">
            <a:avLst/>
          </a:prstGeom>
          <a:noFill/>
          <a:ln/>
        </p:spPr>
        <p:txBody>
          <a:bodyPr wrap="square" rtlCol="0" anchor="t"/>
          <a:lstStyle/>
          <a:p>
            <a:pPr marL="0" indent="0" algn="ctr">
              <a:lnSpc>
                <a:spcPct val="120000"/>
              </a:lnSpc>
              <a:buNone/>
            </a:pPr>
            <a:r>
              <a:rPr lang="en-US" sz="1200">
                <a:solidFill>
                  <a:srgbClr val="CFE3D8"/>
                </a:solidFill>
                <a:latin typeface="Calibri" pitchFamily="34" charset="0"/>
                <a:ea typeface="Calibri" pitchFamily="34" charset="-122"/>
                <a:cs typeface="Calibri" pitchFamily="34" charset="-120"/>
              </a:rPr>
              <a:t>Built the data model, DAX measures, and the interactive dashboard: KPI cards, comparative charts, and filter controls for country, crop, and indicator.</a:t>
            </a:r>
            <a:endParaRPr lang="en-US" sz="1200"/>
          </a:p>
        </p:txBody>
      </p:sp>
      <p:sp>
        <p:nvSpPr>
          <p:cNvPr id="22" name="Text 17"/>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9FB8AB"/>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23" name="Text 18"/>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9FB8AB"/>
                </a:solidFill>
                <a:latin typeface="Calibri" pitchFamily="34" charset="0"/>
                <a:ea typeface="Calibri" pitchFamily="34" charset="-122"/>
                <a:cs typeface="Calibri" pitchFamily="34" charset="-120"/>
              </a:rPr>
              <a:t>5</a:t>
            </a:r>
            <a:endParaRPr lang="en-US" sz="900"/>
          </a:p>
        </p:txBody>
      </p:sp>
      <p:sp>
        <p:nvSpPr>
          <p:cNvPr id="4" name="Shape 7">
            <a:extLst>
              <a:ext uri="{FF2B5EF4-FFF2-40B4-BE49-F238E27FC236}">
                <a16:creationId xmlns:a16="http://schemas.microsoft.com/office/drawing/2014/main" id="{732713A4-C0DA-7B12-A00F-4E929E158528}"/>
              </a:ext>
            </a:extLst>
          </p:cNvPr>
          <p:cNvSpPr/>
          <p:nvPr/>
        </p:nvSpPr>
        <p:spPr>
          <a:xfrm>
            <a:off x="4398039" y="2011679"/>
            <a:ext cx="3566885" cy="3939177"/>
          </a:xfrm>
          <a:prstGeom prst="roundRect">
            <a:avLst>
              <a:gd name="adj" fmla="val 2667"/>
            </a:avLst>
          </a:prstGeom>
          <a:solidFill>
            <a:srgbClr val="1A4433"/>
          </a:solidFill>
          <a:ln w="12700">
            <a:solidFill>
              <a:srgbClr val="2C5F45"/>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05  AI Integration</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500" b="1">
                <a:solidFill>
                  <a:srgbClr val="1E2B24"/>
                </a:solidFill>
                <a:latin typeface="Cambria" pitchFamily="34" charset="0"/>
                <a:ea typeface="Cambria" pitchFamily="34" charset="-122"/>
                <a:cs typeface="Cambria" pitchFamily="34" charset="-120"/>
              </a:rPr>
              <a:t>AI accelerated the workflow; analyst judgment shaped every conclusion</a:t>
            </a:r>
            <a:endParaRPr lang="en-US" sz="2500"/>
          </a:p>
        </p:txBody>
      </p:sp>
      <p:sp>
        <p:nvSpPr>
          <p:cNvPr id="4" name="Shape 2"/>
          <p:cNvSpPr/>
          <p:nvPr/>
        </p:nvSpPr>
        <p:spPr>
          <a:xfrm>
            <a:off x="640080" y="1920240"/>
            <a:ext cx="640080" cy="640080"/>
          </a:xfrm>
          <a:prstGeom prst="ellipse">
            <a:avLst/>
          </a:prstGeom>
          <a:solidFill>
            <a:srgbClr val="1F6F4A"/>
          </a:solidFill>
          <a:ln/>
        </p:spPr>
      </p:sp>
      <p:pic>
        <p:nvPicPr>
          <p:cNvPr id="5" name="Image 0" descr="icons/robot_FFFFFF.png"/>
          <p:cNvPicPr>
            <a:picLocks noChangeAspect="1"/>
          </p:cNvPicPr>
          <p:nvPr/>
        </p:nvPicPr>
        <p:blipFill>
          <a:blip r:embed="rId3"/>
          <a:stretch>
            <a:fillRect/>
          </a:stretch>
        </p:blipFill>
        <p:spPr>
          <a:xfrm>
            <a:off x="777240" y="2057400"/>
            <a:ext cx="365760" cy="365760"/>
          </a:xfrm>
          <a:prstGeom prst="rect">
            <a:avLst/>
          </a:prstGeom>
        </p:spPr>
      </p:pic>
      <p:sp>
        <p:nvSpPr>
          <p:cNvPr id="6" name="Text 3"/>
          <p:cNvSpPr/>
          <p:nvPr/>
        </p:nvSpPr>
        <p:spPr>
          <a:xfrm>
            <a:off x="1463040" y="1965960"/>
            <a:ext cx="5486400" cy="502920"/>
          </a:xfrm>
          <a:prstGeom prst="rect">
            <a:avLst/>
          </a:prstGeom>
          <a:noFill/>
          <a:ln/>
        </p:spPr>
        <p:txBody>
          <a:bodyPr wrap="square" rtlCol="0" anchor="ctr"/>
          <a:lstStyle/>
          <a:p>
            <a:pPr marL="0" indent="0">
              <a:buNone/>
            </a:pPr>
            <a:r>
              <a:rPr lang="en-US" sz="1700" b="1">
                <a:solidFill>
                  <a:srgbClr val="1E2B24"/>
                </a:solidFill>
                <a:latin typeface="Cambria" pitchFamily="34" charset="0"/>
                <a:ea typeface="Cambria" pitchFamily="34" charset="-122"/>
                <a:cs typeface="Cambria" pitchFamily="34" charset="-120"/>
              </a:rPr>
              <a:t>Where AI assisted the analysis</a:t>
            </a:r>
            <a:endParaRPr lang="en-US" sz="1700"/>
          </a:p>
        </p:txBody>
      </p:sp>
      <p:sp>
        <p:nvSpPr>
          <p:cNvPr id="7" name="Shape 4"/>
          <p:cNvSpPr/>
          <p:nvPr/>
        </p:nvSpPr>
        <p:spPr>
          <a:xfrm>
            <a:off x="1463040" y="2816352"/>
            <a:ext cx="109728" cy="109728"/>
          </a:xfrm>
          <a:prstGeom prst="ellipse">
            <a:avLst/>
          </a:prstGeom>
          <a:solidFill>
            <a:srgbClr val="D98E30"/>
          </a:solidFill>
          <a:ln/>
        </p:spPr>
      </p:sp>
      <p:sp>
        <p:nvSpPr>
          <p:cNvPr id="8" name="Text 5"/>
          <p:cNvSpPr/>
          <p:nvPr/>
        </p:nvSpPr>
        <p:spPr>
          <a:xfrm>
            <a:off x="1737360" y="2633472"/>
            <a:ext cx="9326880" cy="548640"/>
          </a:xfrm>
          <a:prstGeom prst="rect">
            <a:avLst/>
          </a:prstGeom>
          <a:noFill/>
          <a:ln/>
        </p:spPr>
        <p:txBody>
          <a:bodyPr wrap="square" lIns="91440" tIns="45720" rIns="91440" bIns="45720" rtlCol="0" anchor="t"/>
          <a:lstStyle/>
          <a:p>
            <a:pPr marL="0" indent="0">
              <a:lnSpc>
                <a:spcPct val="115000"/>
              </a:lnSpc>
              <a:buNone/>
            </a:pPr>
            <a:r>
              <a:rPr lang="en-US" sz="1600" b="1">
                <a:solidFill>
                  <a:srgbClr val="1E2B24"/>
                </a:solidFill>
                <a:latin typeface="Calibri"/>
                <a:ea typeface="Calibri"/>
                <a:cs typeface="Calibri"/>
              </a:rPr>
              <a:t>Data cleaning scripts  —  </a:t>
            </a:r>
            <a:r>
              <a:rPr lang="en-US" sz="1600">
                <a:solidFill>
                  <a:srgbClr val="5B6B62"/>
                </a:solidFill>
                <a:latin typeface="Calibri"/>
                <a:ea typeface="Calibri"/>
                <a:cs typeface="Calibri"/>
              </a:rPr>
              <a:t>Drafted and refined Python/SQL routines for unit standardization, country-name harmonization, and missing-value handling.</a:t>
            </a:r>
            <a:endParaRPr lang="en-US" sz="1600">
              <a:latin typeface="Calibri"/>
              <a:ea typeface="Calibri"/>
              <a:cs typeface="Calibri"/>
            </a:endParaRPr>
          </a:p>
        </p:txBody>
      </p:sp>
      <p:sp>
        <p:nvSpPr>
          <p:cNvPr id="9" name="Shape 6"/>
          <p:cNvSpPr/>
          <p:nvPr/>
        </p:nvSpPr>
        <p:spPr>
          <a:xfrm>
            <a:off x="1463040" y="3474720"/>
            <a:ext cx="109728" cy="109728"/>
          </a:xfrm>
          <a:prstGeom prst="ellipse">
            <a:avLst/>
          </a:prstGeom>
          <a:solidFill>
            <a:srgbClr val="D98E30"/>
          </a:solidFill>
          <a:ln/>
        </p:spPr>
      </p:sp>
      <p:sp>
        <p:nvSpPr>
          <p:cNvPr id="10" name="Text 7"/>
          <p:cNvSpPr/>
          <p:nvPr/>
        </p:nvSpPr>
        <p:spPr>
          <a:xfrm>
            <a:off x="1737360" y="3291840"/>
            <a:ext cx="9326880" cy="548640"/>
          </a:xfrm>
          <a:prstGeom prst="rect">
            <a:avLst/>
          </a:prstGeom>
          <a:noFill/>
          <a:ln/>
        </p:spPr>
        <p:txBody>
          <a:bodyPr wrap="square" lIns="91440" tIns="45720" rIns="91440" bIns="45720" rtlCol="0" anchor="t"/>
          <a:lstStyle/>
          <a:p>
            <a:pPr marL="0" indent="0">
              <a:lnSpc>
                <a:spcPct val="115000"/>
              </a:lnSpc>
              <a:buNone/>
            </a:pPr>
            <a:r>
              <a:rPr lang="en-US" sz="1600" b="1">
                <a:solidFill>
                  <a:srgbClr val="1E2B24"/>
                </a:solidFill>
                <a:latin typeface="Calibri"/>
                <a:ea typeface="Calibri"/>
                <a:cs typeface="Calibri"/>
              </a:rPr>
              <a:t>DAX &amp; query generation  —  </a:t>
            </a:r>
            <a:r>
              <a:rPr lang="en-US" sz="1600">
                <a:solidFill>
                  <a:srgbClr val="5B6B62"/>
                </a:solidFill>
                <a:latin typeface="Calibri"/>
                <a:ea typeface="Calibri"/>
                <a:cs typeface="Calibri"/>
              </a:rPr>
              <a:t>Assisted in writing Power BI DAX measures and M queries for KPI cards and cross-filtered visuals.</a:t>
            </a:r>
            <a:endParaRPr lang="en-US" sz="1600">
              <a:latin typeface="Calibri"/>
              <a:ea typeface="Calibri"/>
              <a:cs typeface="Calibri"/>
            </a:endParaRPr>
          </a:p>
        </p:txBody>
      </p:sp>
      <p:sp>
        <p:nvSpPr>
          <p:cNvPr id="11" name="Shape 8"/>
          <p:cNvSpPr/>
          <p:nvPr/>
        </p:nvSpPr>
        <p:spPr>
          <a:xfrm>
            <a:off x="1463040" y="4133088"/>
            <a:ext cx="109728" cy="109728"/>
          </a:xfrm>
          <a:prstGeom prst="ellipse">
            <a:avLst/>
          </a:prstGeom>
          <a:solidFill>
            <a:srgbClr val="D98E30"/>
          </a:solidFill>
          <a:ln/>
        </p:spPr>
      </p:sp>
      <p:sp>
        <p:nvSpPr>
          <p:cNvPr id="12" name="Text 9"/>
          <p:cNvSpPr/>
          <p:nvPr/>
        </p:nvSpPr>
        <p:spPr>
          <a:xfrm>
            <a:off x="1737360" y="3950208"/>
            <a:ext cx="9326880" cy="548640"/>
          </a:xfrm>
          <a:prstGeom prst="rect">
            <a:avLst/>
          </a:prstGeom>
          <a:noFill/>
          <a:ln/>
        </p:spPr>
        <p:txBody>
          <a:bodyPr wrap="square" lIns="91440" tIns="45720" rIns="91440" bIns="45720" rtlCol="0" anchor="t"/>
          <a:lstStyle/>
          <a:p>
            <a:pPr marL="0" indent="0">
              <a:lnSpc>
                <a:spcPct val="115000"/>
              </a:lnSpc>
              <a:buNone/>
            </a:pPr>
            <a:r>
              <a:rPr lang="en-US" sz="1600" b="1">
                <a:solidFill>
                  <a:srgbClr val="1E2B24"/>
                </a:solidFill>
                <a:latin typeface="Calibri"/>
                <a:ea typeface="Calibri"/>
                <a:cs typeface="Calibri"/>
              </a:rPr>
              <a:t>Pattern-to-narrative drafting  —  </a:t>
            </a:r>
            <a:r>
              <a:rPr lang="en-US" sz="1600">
                <a:solidFill>
                  <a:srgbClr val="5B6B62"/>
                </a:solidFill>
                <a:latin typeface="Calibri"/>
                <a:ea typeface="Calibri"/>
                <a:cs typeface="Calibri"/>
              </a:rPr>
              <a:t>Helped translate visual patterns in the dashboard into first-draft written findings, later reviewed and edited by the team.</a:t>
            </a:r>
            <a:endParaRPr lang="en-US" sz="1600">
              <a:latin typeface="Calibri"/>
              <a:ea typeface="Calibri"/>
              <a:cs typeface="Calibri"/>
            </a:endParaRPr>
          </a:p>
        </p:txBody>
      </p:sp>
      <p:sp>
        <p:nvSpPr>
          <p:cNvPr id="13" name="Shape 10"/>
          <p:cNvSpPr/>
          <p:nvPr/>
        </p:nvSpPr>
        <p:spPr>
          <a:xfrm>
            <a:off x="1463040" y="4791456"/>
            <a:ext cx="109728" cy="109728"/>
          </a:xfrm>
          <a:prstGeom prst="ellipse">
            <a:avLst/>
          </a:prstGeom>
          <a:solidFill>
            <a:srgbClr val="D98E30"/>
          </a:solidFill>
          <a:ln/>
        </p:spPr>
      </p:sp>
      <p:sp>
        <p:nvSpPr>
          <p:cNvPr id="14" name="Text 11"/>
          <p:cNvSpPr/>
          <p:nvPr/>
        </p:nvSpPr>
        <p:spPr>
          <a:xfrm>
            <a:off x="1737360" y="4608576"/>
            <a:ext cx="9326880" cy="548640"/>
          </a:xfrm>
          <a:prstGeom prst="rect">
            <a:avLst/>
          </a:prstGeom>
          <a:noFill/>
          <a:ln/>
        </p:spPr>
        <p:txBody>
          <a:bodyPr wrap="square" lIns="91440" tIns="45720" rIns="91440" bIns="45720" rtlCol="0" anchor="t"/>
          <a:lstStyle/>
          <a:p>
            <a:pPr marL="0" indent="0">
              <a:lnSpc>
                <a:spcPct val="115000"/>
              </a:lnSpc>
              <a:buNone/>
            </a:pPr>
            <a:r>
              <a:rPr lang="en-US" sz="1600" b="1">
                <a:solidFill>
                  <a:srgbClr val="1E2B24"/>
                </a:solidFill>
                <a:latin typeface="Calibri"/>
                <a:ea typeface="Calibri"/>
                <a:cs typeface="Calibri"/>
              </a:rPr>
              <a:t>Documentation &amp; QA  —  </a:t>
            </a:r>
            <a:r>
              <a:rPr lang="en-US" sz="1600">
                <a:solidFill>
                  <a:srgbClr val="5B6B62"/>
                </a:solidFill>
                <a:latin typeface="Calibri"/>
                <a:ea typeface="Calibri"/>
                <a:cs typeface="Calibri"/>
              </a:rPr>
              <a:t>Supported report structuring, consistency checks, and this presentation's narrative and design.</a:t>
            </a:r>
            <a:endParaRPr lang="en-US" sz="1600">
              <a:latin typeface="Calibri"/>
              <a:ea typeface="Calibri"/>
              <a:cs typeface="Calibri"/>
            </a:endParaRPr>
          </a:p>
        </p:txBody>
      </p:sp>
      <p:sp>
        <p:nvSpPr>
          <p:cNvPr id="15" name="Shape 12"/>
          <p:cNvSpPr/>
          <p:nvPr/>
        </p:nvSpPr>
        <p:spPr>
          <a:xfrm>
            <a:off x="640080" y="5623560"/>
            <a:ext cx="10881360" cy="685800"/>
          </a:xfrm>
          <a:prstGeom prst="roundRect">
            <a:avLst>
              <a:gd name="adj" fmla="val 10667"/>
            </a:avLst>
          </a:prstGeom>
          <a:solidFill>
            <a:srgbClr val="E8F0EA"/>
          </a:solidFill>
          <a:ln/>
        </p:spPr>
      </p:sp>
      <p:sp>
        <p:nvSpPr>
          <p:cNvPr id="16" name="Text 13"/>
          <p:cNvSpPr/>
          <p:nvPr/>
        </p:nvSpPr>
        <p:spPr>
          <a:xfrm>
            <a:off x="914400" y="5623560"/>
            <a:ext cx="10332720" cy="685800"/>
          </a:xfrm>
          <a:prstGeom prst="rect">
            <a:avLst/>
          </a:prstGeom>
          <a:noFill/>
          <a:ln/>
        </p:spPr>
        <p:txBody>
          <a:bodyPr wrap="square" rtlCol="0" anchor="ctr"/>
          <a:lstStyle/>
          <a:p>
            <a:pPr marL="0" indent="0">
              <a:buNone/>
            </a:pPr>
            <a:r>
              <a:rPr lang="en-US" sz="1250" b="1">
                <a:solidFill>
                  <a:srgbClr val="16513A"/>
                </a:solidFill>
                <a:latin typeface="Calibri" pitchFamily="34" charset="0"/>
                <a:ea typeface="Calibri" pitchFamily="34" charset="-122"/>
                <a:cs typeface="Calibri" pitchFamily="34" charset="-120"/>
              </a:rPr>
              <a:t>Guardrail:  </a:t>
            </a:r>
            <a:r>
              <a:rPr lang="en-US" sz="1250">
                <a:solidFill>
                  <a:srgbClr val="1E2B24"/>
                </a:solidFill>
                <a:latin typeface="Calibri" pitchFamily="34" charset="0"/>
                <a:ea typeface="Calibri" pitchFamily="34" charset="-122"/>
                <a:cs typeface="Calibri" pitchFamily="34" charset="-120"/>
              </a:rPr>
              <a:t>every AI-assisted output — code, DAX, or narrative text — was reviewed and validated against the source data before inclusion.</a:t>
            </a:r>
            <a:endParaRPr lang="en-US" sz="1250"/>
          </a:p>
        </p:txBody>
      </p:sp>
      <p:sp>
        <p:nvSpPr>
          <p:cNvPr id="17" name="Text 14"/>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18" name="Text 15"/>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45720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06  Project Demonstration</a:t>
            </a:r>
            <a:endParaRPr lang="en-US" sz="1400"/>
          </a:p>
        </p:txBody>
      </p:sp>
      <p:sp>
        <p:nvSpPr>
          <p:cNvPr id="3" name="Text 1"/>
          <p:cNvSpPr/>
          <p:nvPr/>
        </p:nvSpPr>
        <p:spPr>
          <a:xfrm>
            <a:off x="640080" y="804672"/>
            <a:ext cx="10881360" cy="731520"/>
          </a:xfrm>
          <a:prstGeom prst="rect">
            <a:avLst/>
          </a:prstGeom>
          <a:noFill/>
          <a:ln/>
        </p:spPr>
        <p:txBody>
          <a:bodyPr wrap="square" rtlCol="0" anchor="ctr"/>
          <a:lstStyle/>
          <a:p>
            <a:pPr marL="0" indent="0">
              <a:buNone/>
            </a:pPr>
            <a:r>
              <a:rPr lang="en-US" sz="2300" b="1">
                <a:solidFill>
                  <a:srgbClr val="1E2B24"/>
                </a:solidFill>
                <a:latin typeface="Cambria" pitchFamily="34" charset="0"/>
                <a:ea typeface="Cambria" pitchFamily="34" charset="-122"/>
                <a:cs typeface="Cambria" pitchFamily="34" charset="-120"/>
              </a:rPr>
              <a:t>Insight 1 — Waste concentration is uneven across countries</a:t>
            </a:r>
            <a:endParaRPr lang="en-US" sz="2300"/>
          </a:p>
        </p:txBody>
      </p:sp>
      <p:sp>
        <p:nvSpPr>
          <p:cNvPr id="4" name="Text 2"/>
          <p:cNvSpPr/>
          <p:nvPr/>
        </p:nvSpPr>
        <p:spPr>
          <a:xfrm>
            <a:off x="640080" y="1298448"/>
            <a:ext cx="10881360" cy="365760"/>
          </a:xfrm>
          <a:prstGeom prst="rect">
            <a:avLst/>
          </a:prstGeom>
          <a:noFill/>
          <a:ln/>
        </p:spPr>
        <p:txBody>
          <a:bodyPr wrap="square" rtlCol="0" anchor="ctr"/>
          <a:lstStyle/>
          <a:p>
            <a:pPr marL="0" indent="0">
              <a:buNone/>
            </a:pPr>
            <a:r>
              <a:rPr lang="en-US" sz="1250" i="1">
                <a:solidFill>
                  <a:srgbClr val="5B6B62"/>
                </a:solidFill>
                <a:latin typeface="Calibri" pitchFamily="34" charset="0"/>
                <a:ea typeface="Calibri" pitchFamily="34" charset="-122"/>
                <a:cs typeface="Calibri" pitchFamily="34" charset="-120"/>
              </a:rPr>
              <a:t>Objective addressed: quantify agricultural waste and post-harvest food loss by country and crop</a:t>
            </a:r>
            <a:endParaRPr lang="en-US" sz="1250"/>
          </a:p>
        </p:txBody>
      </p:sp>
      <p:sp>
        <p:nvSpPr>
          <p:cNvPr id="5" name="Shape 3"/>
          <p:cNvSpPr/>
          <p:nvPr/>
        </p:nvSpPr>
        <p:spPr>
          <a:xfrm>
            <a:off x="640080" y="1783080"/>
            <a:ext cx="6949440" cy="4526280"/>
          </a:xfrm>
          <a:prstGeom prst="roundRect">
            <a:avLst>
              <a:gd name="adj" fmla="val 1212"/>
            </a:avLst>
          </a:prstGeom>
          <a:solidFill>
            <a:srgbClr val="FFFFFF"/>
          </a:solidFill>
          <a:ln w="12700">
            <a:solidFill>
              <a:srgbClr val="D8E4DD"/>
            </a:solidFill>
            <a:prstDash val="solid"/>
          </a:ln>
          <a:effectLst>
            <a:outerShdw blurRad="127000" dist="25400" dir="5400000" algn="bl" rotWithShape="0">
              <a:srgbClr val="1F6F4A">
                <a:alpha val="10000"/>
              </a:srgbClr>
            </a:outerShdw>
          </a:effectLst>
        </p:spPr>
      </p:sp>
      <p:pic>
        <p:nvPicPr>
          <p:cNvPr id="6" name="Image 0" descr="images/overview.png"/>
          <p:cNvPicPr>
            <a:picLocks noChangeAspect="1"/>
          </p:cNvPicPr>
          <p:nvPr/>
        </p:nvPicPr>
        <p:blipFill>
          <a:blip r:embed="rId3"/>
          <a:srcRect/>
          <a:stretch/>
        </p:blipFill>
        <p:spPr>
          <a:xfrm>
            <a:off x="777240" y="1920240"/>
            <a:ext cx="6675120" cy="3712464"/>
          </a:xfrm>
          <a:prstGeom prst="rect">
            <a:avLst/>
          </a:prstGeom>
        </p:spPr>
      </p:pic>
      <p:sp>
        <p:nvSpPr>
          <p:cNvPr id="7" name="Text 4"/>
          <p:cNvSpPr/>
          <p:nvPr/>
        </p:nvSpPr>
        <p:spPr>
          <a:xfrm>
            <a:off x="777240" y="5715000"/>
            <a:ext cx="6675120" cy="320040"/>
          </a:xfrm>
          <a:prstGeom prst="rect">
            <a:avLst/>
          </a:prstGeom>
          <a:noFill/>
          <a:ln/>
        </p:spPr>
        <p:txBody>
          <a:bodyPr wrap="square" rtlCol="0" anchor="ctr"/>
          <a:lstStyle/>
          <a:p>
            <a:pPr marL="0" indent="0" algn="ctr">
              <a:buNone/>
            </a:pPr>
            <a:r>
              <a:rPr lang="en-US" sz="1050" i="1">
                <a:solidFill>
                  <a:srgbClr val="5B6B62"/>
                </a:solidFill>
                <a:latin typeface="Calibri" pitchFamily="34" charset="0"/>
                <a:ea typeface="Calibri" pitchFamily="34" charset="-122"/>
                <a:cs typeface="Calibri" pitchFamily="34" charset="-120"/>
              </a:rPr>
              <a:t>Dashboard: Country Overview Page</a:t>
            </a:r>
            <a:endParaRPr lang="en-US" sz="1050"/>
          </a:p>
        </p:txBody>
      </p:sp>
      <p:sp>
        <p:nvSpPr>
          <p:cNvPr id="8" name="Shape 5"/>
          <p:cNvSpPr/>
          <p:nvPr/>
        </p:nvSpPr>
        <p:spPr>
          <a:xfrm>
            <a:off x="7818120" y="1874520"/>
            <a:ext cx="3703320" cy="868680"/>
          </a:xfrm>
          <a:prstGeom prst="roundRect">
            <a:avLst>
              <a:gd name="adj" fmla="val 8421"/>
            </a:avLst>
          </a:prstGeom>
          <a:solidFill>
            <a:srgbClr val="E8F0EA"/>
          </a:solidFill>
          <a:ln/>
        </p:spPr>
      </p:sp>
      <p:sp>
        <p:nvSpPr>
          <p:cNvPr id="9" name="Text 6"/>
          <p:cNvSpPr/>
          <p:nvPr/>
        </p:nvSpPr>
        <p:spPr>
          <a:xfrm>
            <a:off x="8001000" y="1929384"/>
            <a:ext cx="1463040" cy="731520"/>
          </a:xfrm>
          <a:prstGeom prst="rect">
            <a:avLst/>
          </a:prstGeom>
          <a:noFill/>
          <a:ln/>
        </p:spPr>
        <p:txBody>
          <a:bodyPr wrap="square" rtlCol="0" anchor="ctr"/>
          <a:lstStyle/>
          <a:p>
            <a:pPr marL="0" indent="0">
              <a:buNone/>
            </a:pPr>
            <a:r>
              <a:rPr lang="en-US" sz="2600" b="1">
                <a:solidFill>
                  <a:srgbClr val="1F6F4A"/>
                </a:solidFill>
                <a:latin typeface="Cambria" pitchFamily="34" charset="0"/>
                <a:ea typeface="Cambria" pitchFamily="34" charset="-122"/>
                <a:cs typeface="Cambria" pitchFamily="34" charset="-120"/>
              </a:rPr>
              <a:t>8</a:t>
            </a:r>
            <a:endParaRPr lang="en-US" sz="2600"/>
          </a:p>
        </p:txBody>
      </p:sp>
      <p:sp>
        <p:nvSpPr>
          <p:cNvPr id="10" name="Text 7"/>
          <p:cNvSpPr/>
          <p:nvPr/>
        </p:nvSpPr>
        <p:spPr>
          <a:xfrm>
            <a:off x="9418320" y="1929384"/>
            <a:ext cx="1965960" cy="731520"/>
          </a:xfrm>
          <a:prstGeom prst="rect">
            <a:avLst/>
          </a:prstGeom>
          <a:noFill/>
          <a:ln/>
        </p:spPr>
        <p:txBody>
          <a:bodyPr wrap="square" rtlCol="0" anchor="ctr"/>
          <a:lstStyle/>
          <a:p>
            <a:pPr marL="0" indent="0">
              <a:buNone/>
            </a:pPr>
            <a:r>
              <a:rPr lang="en-US" sz="1250">
                <a:solidFill>
                  <a:srgbClr val="1E2B24"/>
                </a:solidFill>
                <a:latin typeface="Calibri" pitchFamily="34" charset="0"/>
                <a:ea typeface="Calibri" pitchFamily="34" charset="-122"/>
                <a:cs typeface="Calibri" pitchFamily="34" charset="-120"/>
              </a:rPr>
              <a:t>countries</a:t>
            </a:r>
            <a:endParaRPr lang="en-US" sz="1250"/>
          </a:p>
        </p:txBody>
      </p:sp>
      <p:sp>
        <p:nvSpPr>
          <p:cNvPr id="11" name="Shape 8"/>
          <p:cNvSpPr/>
          <p:nvPr/>
        </p:nvSpPr>
        <p:spPr>
          <a:xfrm>
            <a:off x="7818120" y="2898648"/>
            <a:ext cx="3703320" cy="868680"/>
          </a:xfrm>
          <a:prstGeom prst="roundRect">
            <a:avLst>
              <a:gd name="adj" fmla="val 8421"/>
            </a:avLst>
          </a:prstGeom>
          <a:solidFill>
            <a:srgbClr val="E8F0EA"/>
          </a:solidFill>
          <a:ln/>
        </p:spPr>
      </p:sp>
      <p:sp>
        <p:nvSpPr>
          <p:cNvPr id="12" name="Text 9"/>
          <p:cNvSpPr/>
          <p:nvPr/>
        </p:nvSpPr>
        <p:spPr>
          <a:xfrm>
            <a:off x="8001000" y="2953512"/>
            <a:ext cx="1463040" cy="731520"/>
          </a:xfrm>
          <a:prstGeom prst="rect">
            <a:avLst/>
          </a:prstGeom>
          <a:noFill/>
          <a:ln/>
        </p:spPr>
        <p:txBody>
          <a:bodyPr wrap="square" rtlCol="0" anchor="ctr"/>
          <a:lstStyle/>
          <a:p>
            <a:pPr marL="0" indent="0">
              <a:buNone/>
            </a:pPr>
            <a:r>
              <a:rPr lang="en-US" sz="2600" b="1">
                <a:solidFill>
                  <a:srgbClr val="1F6F4A"/>
                </a:solidFill>
                <a:latin typeface="Cambria" pitchFamily="34" charset="0"/>
                <a:ea typeface="Cambria" pitchFamily="34" charset="-122"/>
                <a:cs typeface="Cambria" pitchFamily="34" charset="-120"/>
              </a:rPr>
              <a:t>3.43%</a:t>
            </a:r>
            <a:endParaRPr lang="en-US" sz="2600"/>
          </a:p>
        </p:txBody>
      </p:sp>
      <p:sp>
        <p:nvSpPr>
          <p:cNvPr id="13" name="Text 10"/>
          <p:cNvSpPr/>
          <p:nvPr/>
        </p:nvSpPr>
        <p:spPr>
          <a:xfrm>
            <a:off x="9418320" y="2953512"/>
            <a:ext cx="1965960" cy="731520"/>
          </a:xfrm>
          <a:prstGeom prst="rect">
            <a:avLst/>
          </a:prstGeom>
          <a:noFill/>
          <a:ln/>
        </p:spPr>
        <p:txBody>
          <a:bodyPr wrap="square" rtlCol="0" anchor="ctr"/>
          <a:lstStyle/>
          <a:p>
            <a:pPr marL="0" indent="0">
              <a:buNone/>
            </a:pPr>
            <a:r>
              <a:rPr lang="en-US" sz="1250">
                <a:solidFill>
                  <a:srgbClr val="1E2B24"/>
                </a:solidFill>
                <a:latin typeface="Calibri" pitchFamily="34" charset="0"/>
                <a:ea typeface="Calibri" pitchFamily="34" charset="-122"/>
                <a:cs typeface="Calibri" pitchFamily="34" charset="-120"/>
              </a:rPr>
              <a:t>avg. food loss</a:t>
            </a:r>
            <a:endParaRPr lang="en-US" sz="1250"/>
          </a:p>
        </p:txBody>
      </p:sp>
      <p:sp>
        <p:nvSpPr>
          <p:cNvPr id="14" name="Shape 11"/>
          <p:cNvSpPr/>
          <p:nvPr/>
        </p:nvSpPr>
        <p:spPr>
          <a:xfrm>
            <a:off x="7818120" y="3922776"/>
            <a:ext cx="3703320" cy="868680"/>
          </a:xfrm>
          <a:prstGeom prst="roundRect">
            <a:avLst>
              <a:gd name="adj" fmla="val 8421"/>
            </a:avLst>
          </a:prstGeom>
          <a:solidFill>
            <a:srgbClr val="E8F0EA"/>
          </a:solidFill>
          <a:ln/>
        </p:spPr>
      </p:sp>
      <p:sp>
        <p:nvSpPr>
          <p:cNvPr id="15" name="Text 12"/>
          <p:cNvSpPr/>
          <p:nvPr/>
        </p:nvSpPr>
        <p:spPr>
          <a:xfrm>
            <a:off x="8001000" y="3977640"/>
            <a:ext cx="1463040" cy="731520"/>
          </a:xfrm>
          <a:prstGeom prst="rect">
            <a:avLst/>
          </a:prstGeom>
          <a:noFill/>
          <a:ln/>
        </p:spPr>
        <p:txBody>
          <a:bodyPr wrap="square" rtlCol="0" anchor="ctr"/>
          <a:lstStyle/>
          <a:p>
            <a:pPr marL="0" indent="0">
              <a:buNone/>
            </a:pPr>
            <a:r>
              <a:rPr lang="en-US" sz="2600" b="1">
                <a:solidFill>
                  <a:srgbClr val="1F6F4A"/>
                </a:solidFill>
                <a:latin typeface="Cambria" pitchFamily="34" charset="0"/>
                <a:ea typeface="Cambria" pitchFamily="34" charset="-122"/>
                <a:cs typeface="Cambria" pitchFamily="34" charset="-120"/>
              </a:rPr>
              <a:t>15.64K</a:t>
            </a:r>
            <a:endParaRPr lang="en-US" sz="2600"/>
          </a:p>
        </p:txBody>
      </p:sp>
      <p:sp>
        <p:nvSpPr>
          <p:cNvPr id="16" name="Text 13"/>
          <p:cNvSpPr/>
          <p:nvPr/>
        </p:nvSpPr>
        <p:spPr>
          <a:xfrm>
            <a:off x="9418320" y="3977640"/>
            <a:ext cx="1965960" cy="731520"/>
          </a:xfrm>
          <a:prstGeom prst="rect">
            <a:avLst/>
          </a:prstGeom>
          <a:noFill/>
          <a:ln/>
        </p:spPr>
        <p:txBody>
          <a:bodyPr wrap="square" rtlCol="0" anchor="ctr"/>
          <a:lstStyle/>
          <a:p>
            <a:pPr marL="0" indent="0">
              <a:buNone/>
            </a:pPr>
            <a:r>
              <a:rPr lang="en-US" sz="1250">
                <a:solidFill>
                  <a:srgbClr val="1E2B24"/>
                </a:solidFill>
                <a:latin typeface="Calibri" pitchFamily="34" charset="0"/>
                <a:ea typeface="Calibri" pitchFamily="34" charset="-122"/>
                <a:cs typeface="Calibri" pitchFamily="34" charset="-120"/>
              </a:rPr>
              <a:t>avg. production</a:t>
            </a:r>
            <a:endParaRPr lang="en-US" sz="1250"/>
          </a:p>
        </p:txBody>
      </p:sp>
      <p:sp>
        <p:nvSpPr>
          <p:cNvPr id="17" name="Text 14"/>
          <p:cNvSpPr/>
          <p:nvPr/>
        </p:nvSpPr>
        <p:spPr>
          <a:xfrm>
            <a:off x="7818120" y="5074920"/>
            <a:ext cx="3657600" cy="320040"/>
          </a:xfrm>
          <a:prstGeom prst="rect">
            <a:avLst/>
          </a:prstGeom>
          <a:noFill/>
          <a:ln/>
        </p:spPr>
        <p:txBody>
          <a:bodyPr wrap="square" rtlCol="0" anchor="ctr"/>
          <a:lstStyle/>
          <a:p>
            <a:pPr marL="0" indent="0">
              <a:buNone/>
            </a:pPr>
            <a:r>
              <a:rPr lang="en-US" sz="1300" b="1">
                <a:solidFill>
                  <a:srgbClr val="1E2B24"/>
                </a:solidFill>
                <a:latin typeface="Cambria" pitchFamily="34" charset="0"/>
                <a:ea typeface="Cambria" pitchFamily="34" charset="-122"/>
                <a:cs typeface="Cambria" pitchFamily="34" charset="-120"/>
              </a:rPr>
              <a:t>What it shows</a:t>
            </a:r>
            <a:endParaRPr lang="en-US" sz="1300"/>
          </a:p>
        </p:txBody>
      </p:sp>
      <p:sp>
        <p:nvSpPr>
          <p:cNvPr id="18" name="Text 15"/>
          <p:cNvSpPr/>
          <p:nvPr/>
        </p:nvSpPr>
        <p:spPr>
          <a:xfrm>
            <a:off x="7818120" y="5394960"/>
            <a:ext cx="370332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Countries with similar production volumes show very different average % food loss over the same 22 years — pointing to gaps in post-harvest handling and storage, not farming output, as the driver.</a:t>
            </a:r>
            <a:endParaRPr lang="en-US" sz="1600">
              <a:latin typeface="Calibri"/>
              <a:ea typeface="Calibri"/>
              <a:cs typeface="Calibri"/>
            </a:endParaRPr>
          </a:p>
        </p:txBody>
      </p:sp>
      <p:sp>
        <p:nvSpPr>
          <p:cNvPr id="19" name="Text 16"/>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20" name="Text 17"/>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7</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45720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07  Project Demonstration</a:t>
            </a:r>
            <a:endParaRPr lang="en-US" sz="1400"/>
          </a:p>
        </p:txBody>
      </p:sp>
      <p:sp>
        <p:nvSpPr>
          <p:cNvPr id="3" name="Text 1"/>
          <p:cNvSpPr/>
          <p:nvPr/>
        </p:nvSpPr>
        <p:spPr>
          <a:xfrm>
            <a:off x="640080" y="804672"/>
            <a:ext cx="10881360" cy="731520"/>
          </a:xfrm>
          <a:prstGeom prst="rect">
            <a:avLst/>
          </a:prstGeom>
          <a:noFill/>
          <a:ln/>
        </p:spPr>
        <p:txBody>
          <a:bodyPr wrap="square" rtlCol="0" anchor="ctr"/>
          <a:lstStyle/>
          <a:p>
            <a:pPr marL="0" indent="0">
              <a:buNone/>
            </a:pPr>
            <a:r>
              <a:rPr lang="en-US" sz="2300" b="1">
                <a:solidFill>
                  <a:srgbClr val="1E2B24"/>
                </a:solidFill>
                <a:latin typeface="Cambria" pitchFamily="34" charset="0"/>
                <a:ea typeface="Cambria" pitchFamily="34" charset="-122"/>
                <a:cs typeface="Cambria" pitchFamily="34" charset="-120"/>
              </a:rPr>
              <a:t>Insight 2 — Waste, emissions, and labor pressure overlap</a:t>
            </a:r>
            <a:endParaRPr lang="en-US" sz="2300"/>
          </a:p>
        </p:txBody>
      </p:sp>
      <p:sp>
        <p:nvSpPr>
          <p:cNvPr id="4" name="Text 2"/>
          <p:cNvSpPr/>
          <p:nvPr/>
        </p:nvSpPr>
        <p:spPr>
          <a:xfrm>
            <a:off x="640080" y="1298448"/>
            <a:ext cx="10881360" cy="365760"/>
          </a:xfrm>
          <a:prstGeom prst="rect">
            <a:avLst/>
          </a:prstGeom>
          <a:noFill/>
          <a:ln/>
        </p:spPr>
        <p:txBody>
          <a:bodyPr wrap="square" rtlCol="0" anchor="ctr"/>
          <a:lstStyle/>
          <a:p>
            <a:pPr marL="0" indent="0">
              <a:buNone/>
            </a:pPr>
            <a:r>
              <a:rPr lang="en-US" sz="1250" i="1">
                <a:solidFill>
                  <a:srgbClr val="5B6B62"/>
                </a:solidFill>
                <a:latin typeface="Calibri" pitchFamily="34" charset="0"/>
                <a:ea typeface="Calibri" pitchFamily="34" charset="-122"/>
                <a:cs typeface="Calibri" pitchFamily="34" charset="-120"/>
              </a:rPr>
              <a:t>Objective addressed: integrate socioeconomic indicators (unemployment, poverty, emissions) with waste data</a:t>
            </a:r>
            <a:endParaRPr lang="en-US" sz="1250"/>
          </a:p>
        </p:txBody>
      </p:sp>
      <p:sp>
        <p:nvSpPr>
          <p:cNvPr id="5" name="Shape 3"/>
          <p:cNvSpPr/>
          <p:nvPr/>
        </p:nvSpPr>
        <p:spPr>
          <a:xfrm>
            <a:off x="640080" y="1783080"/>
            <a:ext cx="6949440" cy="4526280"/>
          </a:xfrm>
          <a:prstGeom prst="roundRect">
            <a:avLst>
              <a:gd name="adj" fmla="val 1212"/>
            </a:avLst>
          </a:prstGeom>
          <a:solidFill>
            <a:srgbClr val="FFFFFF"/>
          </a:solidFill>
          <a:ln w="12700">
            <a:solidFill>
              <a:srgbClr val="D8E4DD"/>
            </a:solidFill>
            <a:prstDash val="solid"/>
          </a:ln>
          <a:effectLst>
            <a:outerShdw blurRad="127000" dist="25400" dir="5400000" algn="bl" rotWithShape="0">
              <a:srgbClr val="1F6F4A">
                <a:alpha val="10000"/>
              </a:srgbClr>
            </a:outerShdw>
          </a:effectLst>
        </p:spPr>
      </p:sp>
      <p:pic>
        <p:nvPicPr>
          <p:cNvPr id="6" name="Image 0" descr="images/emissions.png"/>
          <p:cNvPicPr>
            <a:picLocks noChangeAspect="1"/>
          </p:cNvPicPr>
          <p:nvPr/>
        </p:nvPicPr>
        <p:blipFill>
          <a:blip r:embed="rId3"/>
          <a:srcRect/>
          <a:stretch/>
        </p:blipFill>
        <p:spPr>
          <a:xfrm>
            <a:off x="777240" y="1920240"/>
            <a:ext cx="6675120" cy="3776472"/>
          </a:xfrm>
          <a:prstGeom prst="rect">
            <a:avLst/>
          </a:prstGeom>
        </p:spPr>
      </p:pic>
      <p:sp>
        <p:nvSpPr>
          <p:cNvPr id="7" name="Text 4"/>
          <p:cNvSpPr/>
          <p:nvPr/>
        </p:nvSpPr>
        <p:spPr>
          <a:xfrm>
            <a:off x="777240" y="5715000"/>
            <a:ext cx="6675120" cy="320040"/>
          </a:xfrm>
          <a:prstGeom prst="rect">
            <a:avLst/>
          </a:prstGeom>
          <a:noFill/>
          <a:ln/>
        </p:spPr>
        <p:txBody>
          <a:bodyPr wrap="square" rtlCol="0" anchor="ctr"/>
          <a:lstStyle/>
          <a:p>
            <a:pPr marL="0" indent="0" algn="ctr">
              <a:buNone/>
            </a:pPr>
            <a:r>
              <a:rPr lang="en-US" sz="1050" i="1">
                <a:solidFill>
                  <a:srgbClr val="5B6B62"/>
                </a:solidFill>
                <a:latin typeface="Calibri" pitchFamily="34" charset="0"/>
                <a:ea typeface="Calibri" pitchFamily="34" charset="-122"/>
                <a:cs typeface="Calibri" pitchFamily="34" charset="-120"/>
              </a:rPr>
              <a:t>Dashboard: Food Loss &amp; Emissions Page</a:t>
            </a:r>
            <a:endParaRPr lang="en-US" sz="1050"/>
          </a:p>
        </p:txBody>
      </p:sp>
      <p:sp>
        <p:nvSpPr>
          <p:cNvPr id="8" name="Text 5"/>
          <p:cNvSpPr/>
          <p:nvPr/>
        </p:nvSpPr>
        <p:spPr>
          <a:xfrm>
            <a:off x="7818120" y="1920240"/>
            <a:ext cx="3657600" cy="320040"/>
          </a:xfrm>
          <a:prstGeom prst="rect">
            <a:avLst/>
          </a:prstGeom>
          <a:noFill/>
          <a:ln/>
        </p:spPr>
        <p:txBody>
          <a:bodyPr wrap="square" rtlCol="0" anchor="ctr"/>
          <a:lstStyle/>
          <a:p>
            <a:pPr marL="0" indent="0">
              <a:buNone/>
            </a:pPr>
            <a:r>
              <a:rPr lang="en-US" sz="1300" b="1">
                <a:solidFill>
                  <a:srgbClr val="1E2B24"/>
                </a:solidFill>
                <a:latin typeface="Cambria" pitchFamily="34" charset="0"/>
                <a:ea typeface="Cambria" pitchFamily="34" charset="-122"/>
                <a:cs typeface="Cambria" pitchFamily="34" charset="-120"/>
              </a:rPr>
              <a:t>What it shows</a:t>
            </a:r>
            <a:endParaRPr lang="en-US" sz="1300"/>
          </a:p>
        </p:txBody>
      </p:sp>
      <p:sp>
        <p:nvSpPr>
          <p:cNvPr id="9" name="Text 6"/>
          <p:cNvSpPr/>
          <p:nvPr/>
        </p:nvSpPr>
        <p:spPr>
          <a:xfrm>
            <a:off x="7818120" y="2286000"/>
            <a:ext cx="3703320" cy="1463040"/>
          </a:xfrm>
          <a:prstGeom prst="rect">
            <a:avLst/>
          </a:prstGeom>
          <a:noFill/>
          <a:ln/>
        </p:spPr>
        <p:txBody>
          <a:bodyPr wrap="square" lIns="91440" tIns="45720" rIns="91440" bIns="45720" rtlCol="0" anchor="t"/>
          <a:lstStyle/>
          <a:p>
            <a:pPr marL="0" indent="0">
              <a:lnSpc>
                <a:spcPct val="118000"/>
              </a:lnSpc>
              <a:buNone/>
            </a:pPr>
            <a:r>
              <a:rPr lang="en-US" sz="1600">
                <a:solidFill>
                  <a:srgbClr val="5B6B62"/>
                </a:solidFill>
                <a:latin typeface="Calibri"/>
                <a:ea typeface="Calibri"/>
                <a:cs typeface="Calibri"/>
              </a:rPr>
              <a:t>Congo (Dem. Rep.) and Nigeria dominate average gas emissions (~0.59M and ~0.39M), far above the rest of the cohort — and these same countries show elevated unemployment and poverty indicators.</a:t>
            </a:r>
            <a:endParaRPr lang="en-US" sz="1600">
              <a:latin typeface="Calibri"/>
              <a:ea typeface="Calibri"/>
              <a:cs typeface="Calibri"/>
            </a:endParaRPr>
          </a:p>
        </p:txBody>
      </p:sp>
      <p:sp>
        <p:nvSpPr>
          <p:cNvPr id="10" name="Shape 7"/>
          <p:cNvSpPr/>
          <p:nvPr/>
        </p:nvSpPr>
        <p:spPr>
          <a:xfrm>
            <a:off x="7818120" y="3977640"/>
            <a:ext cx="3703320" cy="2286000"/>
          </a:xfrm>
          <a:prstGeom prst="roundRect">
            <a:avLst>
              <a:gd name="adj" fmla="val 3200"/>
            </a:avLst>
          </a:prstGeom>
          <a:solidFill>
            <a:srgbClr val="16513A"/>
          </a:solidFill>
          <a:ln/>
        </p:spPr>
      </p:sp>
      <p:pic>
        <p:nvPicPr>
          <p:cNvPr id="11" name="Image 1" descr="icons/lightbulb_E0A458.png"/>
          <p:cNvPicPr>
            <a:picLocks noChangeAspect="1"/>
          </p:cNvPicPr>
          <p:nvPr/>
        </p:nvPicPr>
        <p:blipFill>
          <a:blip r:embed="rId4"/>
          <a:stretch>
            <a:fillRect/>
          </a:stretch>
        </p:blipFill>
        <p:spPr>
          <a:xfrm>
            <a:off x="8092440" y="4160520"/>
            <a:ext cx="365760" cy="365760"/>
          </a:xfrm>
          <a:prstGeom prst="rect">
            <a:avLst/>
          </a:prstGeom>
        </p:spPr>
      </p:pic>
      <p:sp>
        <p:nvSpPr>
          <p:cNvPr id="12" name="Text 8"/>
          <p:cNvSpPr/>
          <p:nvPr/>
        </p:nvSpPr>
        <p:spPr>
          <a:xfrm>
            <a:off x="8549640" y="4160520"/>
            <a:ext cx="2834640" cy="365760"/>
          </a:xfrm>
          <a:prstGeom prst="rect">
            <a:avLst/>
          </a:prstGeom>
          <a:noFill/>
          <a:ln/>
        </p:spPr>
        <p:txBody>
          <a:bodyPr wrap="square" rtlCol="0" anchor="ctr"/>
          <a:lstStyle/>
          <a:p>
            <a:pPr marL="0" indent="0">
              <a:buNone/>
            </a:pPr>
            <a:r>
              <a:rPr lang="en-US" sz="1200" b="1">
                <a:solidFill>
                  <a:srgbClr val="D98E30"/>
                </a:solidFill>
                <a:latin typeface="Calibri" pitchFamily="34" charset="0"/>
                <a:ea typeface="Calibri" pitchFamily="34" charset="-122"/>
                <a:cs typeface="Calibri" pitchFamily="34" charset="-120"/>
              </a:rPr>
              <a:t>Dashboard-generated insight</a:t>
            </a:r>
            <a:endParaRPr lang="en-US" sz="1200"/>
          </a:p>
        </p:txBody>
      </p:sp>
      <p:sp>
        <p:nvSpPr>
          <p:cNvPr id="13" name="Text 9"/>
          <p:cNvSpPr/>
          <p:nvPr/>
        </p:nvSpPr>
        <p:spPr>
          <a:xfrm>
            <a:off x="8092440" y="4617720"/>
            <a:ext cx="3246120" cy="1508760"/>
          </a:xfrm>
          <a:prstGeom prst="rect">
            <a:avLst/>
          </a:prstGeom>
          <a:noFill/>
          <a:ln/>
        </p:spPr>
        <p:txBody>
          <a:bodyPr wrap="square" rtlCol="0" anchor="t"/>
          <a:lstStyle/>
          <a:p>
            <a:pPr marL="0" indent="0">
              <a:lnSpc>
                <a:spcPct val="120000"/>
              </a:lnSpc>
              <a:buNone/>
            </a:pPr>
            <a:r>
              <a:rPr lang="en-US" sz="1200" i="1">
                <a:solidFill>
                  <a:srgbClr val="FFFFFF"/>
                </a:solidFill>
                <a:latin typeface="Calibri" pitchFamily="34" charset="0"/>
                <a:ea typeface="Calibri" pitchFamily="34" charset="-122"/>
                <a:cs typeface="Calibri" pitchFamily="34" charset="-120"/>
              </a:rPr>
              <a:t>Countries with high agricultural production, high food loss, and high unemployment represent the strongest opportunities for investment in storage, logistics, food processing, and recycling industries.</a:t>
            </a:r>
            <a:endParaRPr lang="en-US" sz="1200"/>
          </a:p>
        </p:txBody>
      </p:sp>
      <p:sp>
        <p:nvSpPr>
          <p:cNvPr id="14" name="Text 10"/>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15" name="Text 11"/>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8</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45720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07 Project Demonstration</a:t>
            </a:r>
            <a:endParaRPr lang="en-US" sz="1400"/>
          </a:p>
        </p:txBody>
      </p:sp>
      <p:sp>
        <p:nvSpPr>
          <p:cNvPr id="3" name="Text 1"/>
          <p:cNvSpPr/>
          <p:nvPr/>
        </p:nvSpPr>
        <p:spPr>
          <a:xfrm>
            <a:off x="640080" y="804672"/>
            <a:ext cx="10881360" cy="731520"/>
          </a:xfrm>
          <a:prstGeom prst="rect">
            <a:avLst/>
          </a:prstGeom>
          <a:noFill/>
          <a:ln/>
        </p:spPr>
        <p:txBody>
          <a:bodyPr wrap="square" rtlCol="0" anchor="ctr"/>
          <a:lstStyle/>
          <a:p>
            <a:pPr marL="0" indent="0">
              <a:buNone/>
            </a:pPr>
            <a:r>
              <a:rPr lang="en-US" sz="2200" b="1">
                <a:solidFill>
                  <a:srgbClr val="1E2B24"/>
                </a:solidFill>
                <a:latin typeface="Cambria" pitchFamily="34" charset="0"/>
                <a:ea typeface="Cambria" pitchFamily="34" charset="-122"/>
                <a:cs typeface="Cambria" pitchFamily="34" charset="-120"/>
              </a:rPr>
              <a:t>Insight 3 — Loss concentrates at post-harvest storage, in a few crops</a:t>
            </a:r>
            <a:endParaRPr lang="en-US" sz="2200"/>
          </a:p>
        </p:txBody>
      </p:sp>
      <p:sp>
        <p:nvSpPr>
          <p:cNvPr id="4" name="Text 2"/>
          <p:cNvSpPr/>
          <p:nvPr/>
        </p:nvSpPr>
        <p:spPr>
          <a:xfrm>
            <a:off x="640080" y="1298448"/>
            <a:ext cx="10881360" cy="365760"/>
          </a:xfrm>
          <a:prstGeom prst="rect">
            <a:avLst/>
          </a:prstGeom>
          <a:noFill/>
          <a:ln/>
        </p:spPr>
        <p:txBody>
          <a:bodyPr wrap="square" rtlCol="0" anchor="ctr"/>
          <a:lstStyle/>
          <a:p>
            <a:pPr marL="0" indent="0">
              <a:buNone/>
            </a:pPr>
            <a:r>
              <a:rPr lang="en-US" sz="1250" i="1">
                <a:solidFill>
                  <a:srgbClr val="5B6B62"/>
                </a:solidFill>
                <a:latin typeface="Calibri" pitchFamily="34" charset="0"/>
                <a:ea typeface="Calibri" pitchFamily="34" charset="-122"/>
                <a:cs typeface="Calibri" pitchFamily="34" charset="-120"/>
              </a:rPr>
              <a:t>Objective addressed: identify regions and supply-chain stages where interventions can deliver maximum impact</a:t>
            </a:r>
            <a:endParaRPr lang="en-US" sz="1250"/>
          </a:p>
        </p:txBody>
      </p:sp>
      <p:sp>
        <p:nvSpPr>
          <p:cNvPr id="5" name="Shape 3"/>
          <p:cNvSpPr/>
          <p:nvPr/>
        </p:nvSpPr>
        <p:spPr>
          <a:xfrm>
            <a:off x="640080" y="1783080"/>
            <a:ext cx="6949440" cy="4526280"/>
          </a:xfrm>
          <a:prstGeom prst="roundRect">
            <a:avLst>
              <a:gd name="adj" fmla="val 1212"/>
            </a:avLst>
          </a:prstGeom>
          <a:solidFill>
            <a:srgbClr val="FFFFFF"/>
          </a:solidFill>
          <a:ln w="12700">
            <a:solidFill>
              <a:srgbClr val="D8E4DD"/>
            </a:solidFill>
            <a:prstDash val="solid"/>
          </a:ln>
          <a:effectLst>
            <a:outerShdw blurRad="127000" dist="25400" dir="5400000" algn="bl" rotWithShape="0">
              <a:srgbClr val="1F6F4A">
                <a:alpha val="10000"/>
              </a:srgbClr>
            </a:outerShdw>
          </a:effectLst>
        </p:spPr>
      </p:sp>
      <p:pic>
        <p:nvPicPr>
          <p:cNvPr id="6" name="Image 0" descr="images/stage_commodity.png"/>
          <p:cNvPicPr>
            <a:picLocks noChangeAspect="1"/>
          </p:cNvPicPr>
          <p:nvPr/>
        </p:nvPicPr>
        <p:blipFill>
          <a:blip r:embed="rId3"/>
          <a:srcRect/>
          <a:stretch/>
        </p:blipFill>
        <p:spPr>
          <a:xfrm>
            <a:off x="777240" y="1920240"/>
            <a:ext cx="6675120" cy="3730752"/>
          </a:xfrm>
          <a:prstGeom prst="rect">
            <a:avLst/>
          </a:prstGeom>
        </p:spPr>
      </p:pic>
      <p:sp>
        <p:nvSpPr>
          <p:cNvPr id="7" name="Text 4"/>
          <p:cNvSpPr/>
          <p:nvPr/>
        </p:nvSpPr>
        <p:spPr>
          <a:xfrm>
            <a:off x="777240" y="5715000"/>
            <a:ext cx="6675120" cy="320040"/>
          </a:xfrm>
          <a:prstGeom prst="rect">
            <a:avLst/>
          </a:prstGeom>
          <a:noFill/>
          <a:ln/>
        </p:spPr>
        <p:txBody>
          <a:bodyPr wrap="square" rtlCol="0" anchor="ctr"/>
          <a:lstStyle/>
          <a:p>
            <a:pPr marL="0" indent="0" algn="ctr">
              <a:buNone/>
            </a:pPr>
            <a:r>
              <a:rPr lang="en-US" sz="1050" i="1">
                <a:solidFill>
                  <a:srgbClr val="5B6B62"/>
                </a:solidFill>
                <a:latin typeface="Calibri" pitchFamily="34" charset="0"/>
                <a:ea typeface="Calibri" pitchFamily="34" charset="-122"/>
                <a:cs typeface="Calibri" pitchFamily="34" charset="-120"/>
              </a:rPr>
              <a:t>Dashboard: Supply Chain Stage &amp; Commodity Page</a:t>
            </a:r>
            <a:endParaRPr lang="en-US" sz="1050"/>
          </a:p>
        </p:txBody>
      </p:sp>
      <p:sp>
        <p:nvSpPr>
          <p:cNvPr id="8" name="Shape 5"/>
          <p:cNvSpPr/>
          <p:nvPr/>
        </p:nvSpPr>
        <p:spPr>
          <a:xfrm>
            <a:off x="7818120" y="1965960"/>
            <a:ext cx="128016" cy="128016"/>
          </a:xfrm>
          <a:prstGeom prst="ellipse">
            <a:avLst/>
          </a:prstGeom>
          <a:solidFill>
            <a:srgbClr val="D98E30"/>
          </a:solidFill>
          <a:ln/>
        </p:spPr>
      </p:sp>
      <p:sp>
        <p:nvSpPr>
          <p:cNvPr id="9" name="Text 6"/>
          <p:cNvSpPr/>
          <p:nvPr/>
        </p:nvSpPr>
        <p:spPr>
          <a:xfrm>
            <a:off x="8092440" y="1847088"/>
            <a:ext cx="3429000" cy="320040"/>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Post-harvest, the costliest stage</a:t>
            </a:r>
            <a:endParaRPr lang="en-US" sz="1600">
              <a:latin typeface="Cambria"/>
              <a:ea typeface="Cambria"/>
            </a:endParaRPr>
          </a:p>
        </p:txBody>
      </p:sp>
      <p:sp>
        <p:nvSpPr>
          <p:cNvPr id="10" name="Text 7"/>
          <p:cNvSpPr/>
          <p:nvPr/>
        </p:nvSpPr>
        <p:spPr>
          <a:xfrm>
            <a:off x="8092440" y="2167128"/>
            <a:ext cx="3429000" cy="59436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~26% average food loss — over 1.5× the next stage (retail, ~15%).</a:t>
            </a:r>
            <a:endParaRPr lang="en-US" sz="1600">
              <a:latin typeface="Calibri"/>
              <a:ea typeface="Calibri"/>
              <a:cs typeface="Calibri"/>
            </a:endParaRPr>
          </a:p>
        </p:txBody>
      </p:sp>
      <p:sp>
        <p:nvSpPr>
          <p:cNvPr id="11" name="Shape 8"/>
          <p:cNvSpPr/>
          <p:nvPr/>
        </p:nvSpPr>
        <p:spPr>
          <a:xfrm>
            <a:off x="7818120" y="3017520"/>
            <a:ext cx="128016" cy="128016"/>
          </a:xfrm>
          <a:prstGeom prst="ellipse">
            <a:avLst/>
          </a:prstGeom>
          <a:solidFill>
            <a:srgbClr val="D98E30"/>
          </a:solidFill>
          <a:ln/>
        </p:spPr>
      </p:sp>
      <p:sp>
        <p:nvSpPr>
          <p:cNvPr id="12" name="Text 9"/>
          <p:cNvSpPr/>
          <p:nvPr/>
        </p:nvSpPr>
        <p:spPr>
          <a:xfrm>
            <a:off x="8092440" y="2898648"/>
            <a:ext cx="3429000" cy="320040"/>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Storage tops the activity list</a:t>
            </a:r>
            <a:endParaRPr lang="en-US" sz="1600">
              <a:latin typeface="Cambria"/>
              <a:ea typeface="Cambria"/>
            </a:endParaRPr>
          </a:p>
        </p:txBody>
      </p:sp>
      <p:sp>
        <p:nvSpPr>
          <p:cNvPr id="13" name="Text 10"/>
          <p:cNvSpPr/>
          <p:nvPr/>
        </p:nvSpPr>
        <p:spPr>
          <a:xfrm>
            <a:off x="8092440" y="3218688"/>
            <a:ext cx="3429000" cy="59436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Highest cumulative loss (~3.8K), ahead of drying/harvest and transportation.</a:t>
            </a:r>
            <a:endParaRPr lang="en-US" sz="1600">
              <a:latin typeface="Calibri"/>
              <a:ea typeface="Calibri"/>
              <a:cs typeface="Calibri"/>
            </a:endParaRPr>
          </a:p>
        </p:txBody>
      </p:sp>
      <p:sp>
        <p:nvSpPr>
          <p:cNvPr id="14" name="Shape 11"/>
          <p:cNvSpPr/>
          <p:nvPr/>
        </p:nvSpPr>
        <p:spPr>
          <a:xfrm>
            <a:off x="7818120" y="4069080"/>
            <a:ext cx="128016" cy="128016"/>
          </a:xfrm>
          <a:prstGeom prst="ellipse">
            <a:avLst/>
          </a:prstGeom>
          <a:solidFill>
            <a:srgbClr val="D98E30"/>
          </a:solidFill>
          <a:ln/>
        </p:spPr>
      </p:sp>
      <p:sp>
        <p:nvSpPr>
          <p:cNvPr id="15" name="Text 12"/>
          <p:cNvSpPr/>
          <p:nvPr/>
        </p:nvSpPr>
        <p:spPr>
          <a:xfrm>
            <a:off x="8092440" y="3950208"/>
            <a:ext cx="3429000" cy="320040"/>
          </a:xfrm>
          <a:prstGeom prst="rect">
            <a:avLst/>
          </a:prstGeom>
          <a:noFill/>
          <a:ln/>
        </p:spPr>
        <p:txBody>
          <a:bodyPr wrap="square" lIns="91440" tIns="45720" rIns="91440" bIns="45720" rtlCol="0" anchor="ctr"/>
          <a:lstStyle/>
          <a:p>
            <a:pPr marL="0" indent="0">
              <a:buNone/>
            </a:pPr>
            <a:r>
              <a:rPr lang="en-US" sz="1600" b="1">
                <a:solidFill>
                  <a:srgbClr val="1E2B24"/>
                </a:solidFill>
                <a:latin typeface="Cambria"/>
                <a:ea typeface="Cambria"/>
                <a:cs typeface="Cambria" pitchFamily="34" charset="-120"/>
              </a:rPr>
              <a:t>A handful of crops dominate losses</a:t>
            </a:r>
            <a:endParaRPr lang="en-US" sz="1600">
              <a:latin typeface="Cambria"/>
              <a:ea typeface="Cambria"/>
            </a:endParaRPr>
          </a:p>
        </p:txBody>
      </p:sp>
      <p:sp>
        <p:nvSpPr>
          <p:cNvPr id="16" name="Text 13"/>
          <p:cNvSpPr/>
          <p:nvPr/>
        </p:nvSpPr>
        <p:spPr>
          <a:xfrm>
            <a:off x="8092440" y="4270248"/>
            <a:ext cx="3429000" cy="59436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Papayas (~48%), watermelons, strawberries, and cattle sit far above grains and legumes.</a:t>
            </a:r>
            <a:endParaRPr lang="en-US" sz="1600">
              <a:latin typeface="Calibri"/>
              <a:ea typeface="Calibri"/>
              <a:cs typeface="Calibri"/>
            </a:endParaRPr>
          </a:p>
        </p:txBody>
      </p:sp>
      <p:sp>
        <p:nvSpPr>
          <p:cNvPr id="17" name="Text 14"/>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18" name="Text 15"/>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9</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229600" cy="45720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07  Project Demonstration</a:t>
            </a:r>
            <a:endParaRPr lang="en-US" sz="1400"/>
          </a:p>
        </p:txBody>
      </p:sp>
      <p:sp>
        <p:nvSpPr>
          <p:cNvPr id="3" name="Text 1"/>
          <p:cNvSpPr/>
          <p:nvPr/>
        </p:nvSpPr>
        <p:spPr>
          <a:xfrm>
            <a:off x="640080" y="804672"/>
            <a:ext cx="10881360" cy="731520"/>
          </a:xfrm>
          <a:prstGeom prst="rect">
            <a:avLst/>
          </a:prstGeom>
          <a:noFill/>
          <a:ln/>
        </p:spPr>
        <p:txBody>
          <a:bodyPr wrap="square" rtlCol="0" anchor="ctr"/>
          <a:lstStyle/>
          <a:p>
            <a:pPr marL="0" indent="0">
              <a:buNone/>
            </a:pPr>
            <a:r>
              <a:rPr lang="en-US" sz="2300" b="1">
                <a:solidFill>
                  <a:srgbClr val="1E2B24"/>
                </a:solidFill>
                <a:latin typeface="Cambria" pitchFamily="34" charset="0"/>
                <a:ea typeface="Cambria" pitchFamily="34" charset="-122"/>
                <a:cs typeface="Cambria" pitchFamily="34" charset="-120"/>
              </a:rPr>
              <a:t>Insight 4 — A composite index ranks countries by green job potential</a:t>
            </a:r>
            <a:endParaRPr lang="en-US" sz="2300"/>
          </a:p>
        </p:txBody>
      </p:sp>
      <p:sp>
        <p:nvSpPr>
          <p:cNvPr id="4" name="Text 2"/>
          <p:cNvSpPr/>
          <p:nvPr/>
        </p:nvSpPr>
        <p:spPr>
          <a:xfrm>
            <a:off x="640080" y="1298448"/>
            <a:ext cx="10881360" cy="365760"/>
          </a:xfrm>
          <a:prstGeom prst="rect">
            <a:avLst/>
          </a:prstGeom>
          <a:noFill/>
          <a:ln/>
        </p:spPr>
        <p:txBody>
          <a:bodyPr wrap="square" rtlCol="0" anchor="ctr"/>
          <a:lstStyle/>
          <a:p>
            <a:pPr marL="0" indent="0">
              <a:buNone/>
            </a:pPr>
            <a:r>
              <a:rPr lang="en-US" sz="1250" i="1">
                <a:solidFill>
                  <a:srgbClr val="5B6B62"/>
                </a:solidFill>
                <a:latin typeface="Calibri" pitchFamily="34" charset="0"/>
                <a:ea typeface="Calibri" pitchFamily="34" charset="-122"/>
                <a:cs typeface="Calibri" pitchFamily="34" charset="-120"/>
              </a:rPr>
              <a:t>Objective addressed: synthesize waste, unemployment, and production data into a single, rankable investment-priority metric</a:t>
            </a:r>
            <a:endParaRPr lang="en-US" sz="1250"/>
          </a:p>
        </p:txBody>
      </p:sp>
      <p:sp>
        <p:nvSpPr>
          <p:cNvPr id="5" name="Shape 3"/>
          <p:cNvSpPr/>
          <p:nvPr/>
        </p:nvSpPr>
        <p:spPr>
          <a:xfrm>
            <a:off x="640080" y="1783080"/>
            <a:ext cx="6949440" cy="4526280"/>
          </a:xfrm>
          <a:prstGeom prst="roundRect">
            <a:avLst>
              <a:gd name="adj" fmla="val 1212"/>
            </a:avLst>
          </a:prstGeom>
          <a:solidFill>
            <a:srgbClr val="FFFFFF"/>
          </a:solidFill>
          <a:ln w="12700">
            <a:solidFill>
              <a:srgbClr val="D8E4DD"/>
            </a:solidFill>
            <a:prstDash val="solid"/>
          </a:ln>
          <a:effectLst>
            <a:outerShdw blurRad="127000" dist="25400" dir="5400000" algn="bl" rotWithShape="0">
              <a:srgbClr val="1F6F4A">
                <a:alpha val="10000"/>
              </a:srgbClr>
            </a:outerShdw>
          </a:effectLst>
        </p:spPr>
      </p:sp>
      <p:pic>
        <p:nvPicPr>
          <p:cNvPr id="6" name="Image 0" descr="images/green_jobs.png"/>
          <p:cNvPicPr>
            <a:picLocks noChangeAspect="1"/>
          </p:cNvPicPr>
          <p:nvPr/>
        </p:nvPicPr>
        <p:blipFill>
          <a:blip r:embed="rId3"/>
          <a:srcRect/>
          <a:stretch/>
        </p:blipFill>
        <p:spPr>
          <a:xfrm>
            <a:off x="777240" y="1920240"/>
            <a:ext cx="6675120" cy="4017922"/>
          </a:xfrm>
          <a:prstGeom prst="rect">
            <a:avLst/>
          </a:prstGeom>
        </p:spPr>
      </p:pic>
      <p:sp>
        <p:nvSpPr>
          <p:cNvPr id="7" name="Text 4"/>
          <p:cNvSpPr/>
          <p:nvPr/>
        </p:nvSpPr>
        <p:spPr>
          <a:xfrm>
            <a:off x="777240" y="5988240"/>
            <a:ext cx="6675120" cy="320040"/>
          </a:xfrm>
          <a:prstGeom prst="rect">
            <a:avLst/>
          </a:prstGeom>
          <a:noFill/>
          <a:ln/>
        </p:spPr>
        <p:txBody>
          <a:bodyPr wrap="square" rtlCol="0" anchor="ctr"/>
          <a:lstStyle/>
          <a:p>
            <a:pPr marL="0" indent="0" algn="ctr">
              <a:buNone/>
            </a:pPr>
            <a:r>
              <a:rPr lang="en-US" sz="1050" i="1">
                <a:solidFill>
                  <a:srgbClr val="5B6B62"/>
                </a:solidFill>
                <a:latin typeface="Calibri" pitchFamily="34" charset="0"/>
                <a:ea typeface="Calibri" pitchFamily="34" charset="-122"/>
                <a:cs typeface="Calibri" pitchFamily="34" charset="-120"/>
              </a:rPr>
              <a:t>Dashboard: Green Employment Opportunity Index Page</a:t>
            </a:r>
            <a:endParaRPr lang="en-US" sz="1050"/>
          </a:p>
        </p:txBody>
      </p:sp>
      <p:sp>
        <p:nvSpPr>
          <p:cNvPr id="8" name="Text 5"/>
          <p:cNvSpPr/>
          <p:nvPr/>
        </p:nvSpPr>
        <p:spPr>
          <a:xfrm>
            <a:off x="7818120" y="1920240"/>
            <a:ext cx="3657600" cy="320040"/>
          </a:xfrm>
          <a:prstGeom prst="rect">
            <a:avLst/>
          </a:prstGeom>
          <a:noFill/>
          <a:ln/>
        </p:spPr>
        <p:txBody>
          <a:bodyPr wrap="square" rtlCol="0" anchor="ctr"/>
          <a:lstStyle/>
          <a:p>
            <a:pPr marL="0" indent="0">
              <a:buNone/>
            </a:pPr>
            <a:r>
              <a:rPr lang="en-US" sz="1300" b="1">
                <a:solidFill>
                  <a:srgbClr val="1E2B24"/>
                </a:solidFill>
                <a:latin typeface="Cambria" pitchFamily="34" charset="0"/>
                <a:ea typeface="Cambria" pitchFamily="34" charset="-122"/>
                <a:cs typeface="Cambria" pitchFamily="34" charset="-120"/>
              </a:rPr>
              <a:t>What it shows</a:t>
            </a:r>
            <a:endParaRPr lang="en-US" sz="1300"/>
          </a:p>
        </p:txBody>
      </p:sp>
      <p:sp>
        <p:nvSpPr>
          <p:cNvPr id="9" name="Text 6"/>
          <p:cNvSpPr/>
          <p:nvPr/>
        </p:nvSpPr>
        <p:spPr>
          <a:xfrm>
            <a:off x="7818120" y="2286000"/>
            <a:ext cx="3703320" cy="1554480"/>
          </a:xfrm>
          <a:prstGeom prst="rect">
            <a:avLst/>
          </a:prstGeom>
          <a:noFill/>
          <a:ln/>
        </p:spPr>
        <p:txBody>
          <a:bodyPr wrap="square" lIns="91440" tIns="45720" rIns="91440" bIns="45720" rtlCol="0" anchor="t"/>
          <a:lstStyle/>
          <a:p>
            <a:pPr marL="0" indent="0">
              <a:lnSpc>
                <a:spcPct val="118000"/>
              </a:lnSpc>
              <a:buNone/>
            </a:pPr>
            <a:r>
              <a:rPr lang="en-US" sz="1600">
                <a:solidFill>
                  <a:srgbClr val="5B6B62"/>
                </a:solidFill>
                <a:latin typeface="Calibri"/>
                <a:ea typeface="Calibri"/>
                <a:cs typeface="Calibri"/>
              </a:rPr>
              <a:t>South Africa ranks highest on the Green Employment Opportunity Score (~0.09), followed by Botswana, Rwanda, and Ghana — countries combining relatively high food loss and unemployment with strong agricultural production.</a:t>
            </a:r>
            <a:endParaRPr lang="en-US" sz="1600">
              <a:latin typeface="Calibri"/>
              <a:ea typeface="Calibri"/>
              <a:cs typeface="Calibri"/>
            </a:endParaRPr>
          </a:p>
        </p:txBody>
      </p:sp>
      <p:sp>
        <p:nvSpPr>
          <p:cNvPr id="10" name="Shape 7"/>
          <p:cNvSpPr/>
          <p:nvPr/>
        </p:nvSpPr>
        <p:spPr>
          <a:xfrm>
            <a:off x="7818120" y="3977640"/>
            <a:ext cx="3703320" cy="2331720"/>
          </a:xfrm>
          <a:prstGeom prst="roundRect">
            <a:avLst>
              <a:gd name="adj" fmla="val 3200"/>
            </a:avLst>
          </a:prstGeom>
          <a:solidFill>
            <a:srgbClr val="16513A"/>
          </a:solidFill>
          <a:ln/>
        </p:spPr>
      </p:sp>
      <p:pic>
        <p:nvPicPr>
          <p:cNvPr id="11" name="Image 1" descr="icons/lightbulb_E0A458.png"/>
          <p:cNvPicPr>
            <a:picLocks noChangeAspect="1"/>
          </p:cNvPicPr>
          <p:nvPr/>
        </p:nvPicPr>
        <p:blipFill>
          <a:blip r:embed="rId4"/>
          <a:stretch>
            <a:fillRect/>
          </a:stretch>
        </p:blipFill>
        <p:spPr>
          <a:xfrm>
            <a:off x="8092440" y="4160520"/>
            <a:ext cx="365760" cy="365760"/>
          </a:xfrm>
          <a:prstGeom prst="rect">
            <a:avLst/>
          </a:prstGeom>
        </p:spPr>
      </p:pic>
      <p:sp>
        <p:nvSpPr>
          <p:cNvPr id="12" name="Text 8"/>
          <p:cNvSpPr/>
          <p:nvPr/>
        </p:nvSpPr>
        <p:spPr>
          <a:xfrm>
            <a:off x="8549640" y="4160520"/>
            <a:ext cx="2834640" cy="365760"/>
          </a:xfrm>
          <a:prstGeom prst="rect">
            <a:avLst/>
          </a:prstGeom>
          <a:noFill/>
          <a:ln/>
        </p:spPr>
        <p:txBody>
          <a:bodyPr wrap="square" rtlCol="0" anchor="ctr"/>
          <a:lstStyle/>
          <a:p>
            <a:pPr marL="0" indent="0">
              <a:buNone/>
            </a:pPr>
            <a:r>
              <a:rPr lang="en-US" sz="1200" b="1">
                <a:solidFill>
                  <a:srgbClr val="D98E30"/>
                </a:solidFill>
                <a:latin typeface="Calibri" pitchFamily="34" charset="0"/>
                <a:ea typeface="Calibri" pitchFamily="34" charset="-122"/>
                <a:cs typeface="Calibri" pitchFamily="34" charset="-120"/>
              </a:rPr>
              <a:t>Dashboard-generated insight</a:t>
            </a:r>
            <a:endParaRPr lang="en-US" sz="1200"/>
          </a:p>
        </p:txBody>
      </p:sp>
      <p:sp>
        <p:nvSpPr>
          <p:cNvPr id="13" name="Text 9"/>
          <p:cNvSpPr/>
          <p:nvPr/>
        </p:nvSpPr>
        <p:spPr>
          <a:xfrm>
            <a:off x="8092440" y="4617720"/>
            <a:ext cx="3246120" cy="1691640"/>
          </a:xfrm>
          <a:prstGeom prst="rect">
            <a:avLst/>
          </a:prstGeom>
          <a:noFill/>
          <a:ln/>
        </p:spPr>
        <p:txBody>
          <a:bodyPr wrap="square" rtlCol="0" anchor="t"/>
          <a:lstStyle/>
          <a:p>
            <a:pPr marL="0" indent="0">
              <a:lnSpc>
                <a:spcPct val="112000"/>
              </a:lnSpc>
              <a:buNone/>
            </a:pPr>
            <a:r>
              <a:rPr lang="en-US" sz="950" i="1">
                <a:solidFill>
                  <a:srgbClr val="FFFFFF"/>
                </a:solidFill>
                <a:latin typeface="Calibri" pitchFamily="34" charset="0"/>
                <a:ea typeface="Calibri" pitchFamily="34" charset="-122"/>
                <a:cs typeface="Calibri" pitchFamily="34" charset="-120"/>
              </a:rPr>
              <a:t>The Green Employment Opportunity Score is a composite index developed for this project. It combines agricultural food loss, unemployment, and agricultural production to identify countries where interventions to reduce food loss could have the greatest potential to support green employment. Investments in storage infrastructure, food processing, logistics, and value addition could reduce food losses while supporting green employment and contributing to SDG 2, SDG 8, SDG 12, and SDG 13.</a:t>
            </a:r>
            <a:endParaRPr lang="en-US" sz="950"/>
          </a:p>
        </p:txBody>
      </p:sp>
      <p:sp>
        <p:nvSpPr>
          <p:cNvPr id="14" name="Text 10"/>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15" name="Text 11"/>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10</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08 Implications</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700" b="1">
                <a:solidFill>
                  <a:srgbClr val="1E2B24"/>
                </a:solidFill>
                <a:latin typeface="Cambria" pitchFamily="34" charset="0"/>
                <a:ea typeface="Cambria" pitchFamily="34" charset="-122"/>
                <a:cs typeface="Cambria" pitchFamily="34" charset="-120"/>
              </a:rPr>
              <a:t>What the findings mean for policy and investment</a:t>
            </a:r>
            <a:endParaRPr lang="en-US" sz="2700"/>
          </a:p>
        </p:txBody>
      </p:sp>
      <p:sp>
        <p:nvSpPr>
          <p:cNvPr id="4" name="Shape 2"/>
          <p:cNvSpPr/>
          <p:nvPr/>
        </p:nvSpPr>
        <p:spPr>
          <a:xfrm>
            <a:off x="640080" y="1965960"/>
            <a:ext cx="5257800" cy="1965960"/>
          </a:xfrm>
          <a:prstGeom prst="roundRect">
            <a:avLst>
              <a:gd name="adj" fmla="val 3721"/>
            </a:avLst>
          </a:prstGeom>
          <a:solidFill>
            <a:srgbClr val="E8F0EA"/>
          </a:solidFill>
          <a:ln/>
        </p:spPr>
      </p:sp>
      <p:sp>
        <p:nvSpPr>
          <p:cNvPr id="5" name="Shape 3"/>
          <p:cNvSpPr/>
          <p:nvPr/>
        </p:nvSpPr>
        <p:spPr>
          <a:xfrm>
            <a:off x="914400" y="2240280"/>
            <a:ext cx="548640" cy="548640"/>
          </a:xfrm>
          <a:prstGeom prst="ellipse">
            <a:avLst/>
          </a:prstGeom>
          <a:solidFill>
            <a:srgbClr val="1F6F4A"/>
          </a:solidFill>
          <a:ln/>
        </p:spPr>
      </p:sp>
      <p:pic>
        <p:nvPicPr>
          <p:cNvPr id="6" name="Image 0" descr="icons/searchdollar_FFFFFF.png"/>
          <p:cNvPicPr>
            <a:picLocks noChangeAspect="1"/>
          </p:cNvPicPr>
          <p:nvPr/>
        </p:nvPicPr>
        <p:blipFill>
          <a:blip r:embed="rId3"/>
          <a:stretch>
            <a:fillRect/>
          </a:stretch>
        </p:blipFill>
        <p:spPr>
          <a:xfrm>
            <a:off x="1042416" y="2368296"/>
            <a:ext cx="292608" cy="292608"/>
          </a:xfrm>
          <a:prstGeom prst="rect">
            <a:avLst/>
          </a:prstGeom>
        </p:spPr>
      </p:pic>
      <p:sp>
        <p:nvSpPr>
          <p:cNvPr id="7" name="Text 4"/>
          <p:cNvSpPr/>
          <p:nvPr/>
        </p:nvSpPr>
        <p:spPr>
          <a:xfrm>
            <a:off x="1645920" y="2194560"/>
            <a:ext cx="4069080" cy="502920"/>
          </a:xfrm>
          <a:prstGeom prst="rect">
            <a:avLst/>
          </a:prstGeom>
          <a:noFill/>
          <a:ln/>
        </p:spPr>
        <p:txBody>
          <a:bodyPr wrap="square" lIns="91440" tIns="45720" rIns="91440" bIns="45720" rtlCol="0" anchor="t"/>
          <a:lstStyle/>
          <a:p>
            <a:pPr marL="0" indent="0">
              <a:buNone/>
            </a:pPr>
            <a:r>
              <a:rPr lang="en-US" sz="1600" b="1">
                <a:solidFill>
                  <a:srgbClr val="1E2B24"/>
                </a:solidFill>
                <a:latin typeface="Cambria"/>
                <a:ea typeface="Cambria"/>
                <a:cs typeface="Cambria" pitchFamily="34" charset="-120"/>
              </a:rPr>
              <a:t>Target waste-to-value investment</a:t>
            </a:r>
            <a:endParaRPr lang="en-US" sz="1600">
              <a:latin typeface="Cambria"/>
              <a:ea typeface="Cambria"/>
            </a:endParaRPr>
          </a:p>
        </p:txBody>
      </p:sp>
      <p:sp>
        <p:nvSpPr>
          <p:cNvPr id="8" name="Text 5"/>
          <p:cNvSpPr/>
          <p:nvPr/>
        </p:nvSpPr>
        <p:spPr>
          <a:xfrm>
            <a:off x="914400" y="283464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Prioritize capital toward high-waste, high-unemployment countries such as Congo (Dem. Rep.), Nigeria, and Ghana, where circular economy interventions can create jobs and reduce loss simultaneously.</a:t>
            </a:r>
            <a:endParaRPr lang="en-US" sz="1600">
              <a:latin typeface="Calibri"/>
              <a:ea typeface="Calibri"/>
              <a:cs typeface="Calibri"/>
            </a:endParaRPr>
          </a:p>
        </p:txBody>
      </p:sp>
      <p:sp>
        <p:nvSpPr>
          <p:cNvPr id="9" name="Shape 6"/>
          <p:cNvSpPr/>
          <p:nvPr/>
        </p:nvSpPr>
        <p:spPr>
          <a:xfrm>
            <a:off x="6172200" y="1965960"/>
            <a:ext cx="5257800" cy="1965960"/>
          </a:xfrm>
          <a:prstGeom prst="roundRect">
            <a:avLst>
              <a:gd name="adj" fmla="val 3721"/>
            </a:avLst>
          </a:prstGeom>
          <a:solidFill>
            <a:srgbClr val="E8F0EA"/>
          </a:solidFill>
          <a:ln/>
        </p:spPr>
      </p:sp>
      <p:sp>
        <p:nvSpPr>
          <p:cNvPr id="10" name="Shape 7"/>
          <p:cNvSpPr/>
          <p:nvPr/>
        </p:nvSpPr>
        <p:spPr>
          <a:xfrm>
            <a:off x="6446520" y="2240280"/>
            <a:ext cx="548640" cy="548640"/>
          </a:xfrm>
          <a:prstGeom prst="ellipse">
            <a:avLst/>
          </a:prstGeom>
          <a:solidFill>
            <a:srgbClr val="1F6F4A"/>
          </a:solidFill>
          <a:ln/>
        </p:spPr>
      </p:sp>
      <p:pic>
        <p:nvPicPr>
          <p:cNvPr id="11" name="Image 1" descr="icons/warehouse_FFFFFF.png"/>
          <p:cNvPicPr>
            <a:picLocks noChangeAspect="1"/>
          </p:cNvPicPr>
          <p:nvPr/>
        </p:nvPicPr>
        <p:blipFill>
          <a:blip r:embed="rId4"/>
          <a:stretch>
            <a:fillRect/>
          </a:stretch>
        </p:blipFill>
        <p:spPr>
          <a:xfrm>
            <a:off x="6574536" y="2368296"/>
            <a:ext cx="292608" cy="292608"/>
          </a:xfrm>
          <a:prstGeom prst="rect">
            <a:avLst/>
          </a:prstGeom>
        </p:spPr>
      </p:pic>
      <p:sp>
        <p:nvSpPr>
          <p:cNvPr id="12" name="Text 8"/>
          <p:cNvSpPr/>
          <p:nvPr/>
        </p:nvSpPr>
        <p:spPr>
          <a:xfrm>
            <a:off x="7178040" y="2194560"/>
            <a:ext cx="4069080" cy="502920"/>
          </a:xfrm>
          <a:prstGeom prst="rect">
            <a:avLst/>
          </a:prstGeom>
          <a:noFill/>
          <a:ln/>
        </p:spPr>
        <p:txBody>
          <a:bodyPr wrap="square" lIns="91440" tIns="45720" rIns="91440" bIns="45720" rtlCol="0" anchor="t"/>
          <a:lstStyle/>
          <a:p>
            <a:pPr marL="0" indent="0">
              <a:buNone/>
            </a:pPr>
            <a:r>
              <a:rPr lang="en-US" sz="1600" b="1">
                <a:solidFill>
                  <a:srgbClr val="1E2B24"/>
                </a:solidFill>
                <a:latin typeface="Cambria"/>
                <a:ea typeface="Cambria"/>
                <a:cs typeface="Cambria" pitchFamily="34" charset="-120"/>
              </a:rPr>
              <a:t>Fix storage and post-harvest handling first</a:t>
            </a:r>
            <a:endParaRPr lang="en-US" sz="1600">
              <a:latin typeface="Cambria"/>
              <a:ea typeface="Cambria"/>
            </a:endParaRPr>
          </a:p>
        </p:txBody>
      </p:sp>
      <p:sp>
        <p:nvSpPr>
          <p:cNvPr id="13" name="Text 9"/>
          <p:cNvSpPr/>
          <p:nvPr/>
        </p:nvSpPr>
        <p:spPr>
          <a:xfrm>
            <a:off x="6446520" y="283464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Since post-harvest and storage activities account for the largest share of loss, storage infrastructure and cold-chain investment offer the highest-leverage intervention point.</a:t>
            </a:r>
            <a:endParaRPr lang="en-US" sz="1600">
              <a:latin typeface="Calibri"/>
              <a:ea typeface="Calibri"/>
              <a:cs typeface="Calibri"/>
            </a:endParaRPr>
          </a:p>
        </p:txBody>
      </p:sp>
      <p:sp>
        <p:nvSpPr>
          <p:cNvPr id="14" name="Shape 10"/>
          <p:cNvSpPr/>
          <p:nvPr/>
        </p:nvSpPr>
        <p:spPr>
          <a:xfrm>
            <a:off x="640080" y="4206240"/>
            <a:ext cx="5257800" cy="1965960"/>
          </a:xfrm>
          <a:prstGeom prst="roundRect">
            <a:avLst>
              <a:gd name="adj" fmla="val 3721"/>
            </a:avLst>
          </a:prstGeom>
          <a:solidFill>
            <a:srgbClr val="E8F0EA"/>
          </a:solidFill>
          <a:ln/>
        </p:spPr>
      </p:sp>
      <p:sp>
        <p:nvSpPr>
          <p:cNvPr id="15" name="Shape 11"/>
          <p:cNvSpPr/>
          <p:nvPr/>
        </p:nvSpPr>
        <p:spPr>
          <a:xfrm>
            <a:off x="914400" y="4480560"/>
            <a:ext cx="548640" cy="548640"/>
          </a:xfrm>
          <a:prstGeom prst="ellipse">
            <a:avLst/>
          </a:prstGeom>
          <a:solidFill>
            <a:srgbClr val="1F6F4A"/>
          </a:solidFill>
          <a:ln/>
        </p:spPr>
      </p:sp>
      <p:pic>
        <p:nvPicPr>
          <p:cNvPr id="16" name="Image 2" descr="icons/cloud_FFFFFF.png"/>
          <p:cNvPicPr>
            <a:picLocks noChangeAspect="1"/>
          </p:cNvPicPr>
          <p:nvPr/>
        </p:nvPicPr>
        <p:blipFill>
          <a:blip r:embed="rId5"/>
          <a:stretch>
            <a:fillRect/>
          </a:stretch>
        </p:blipFill>
        <p:spPr>
          <a:xfrm>
            <a:off x="1042416" y="4608576"/>
            <a:ext cx="292608" cy="292608"/>
          </a:xfrm>
          <a:prstGeom prst="rect">
            <a:avLst/>
          </a:prstGeom>
        </p:spPr>
      </p:pic>
      <p:sp>
        <p:nvSpPr>
          <p:cNvPr id="17" name="Text 12"/>
          <p:cNvSpPr/>
          <p:nvPr/>
        </p:nvSpPr>
        <p:spPr>
          <a:xfrm>
            <a:off x="1645920" y="4434840"/>
            <a:ext cx="4069080" cy="502920"/>
          </a:xfrm>
          <a:prstGeom prst="rect">
            <a:avLst/>
          </a:prstGeom>
          <a:noFill/>
          <a:ln/>
        </p:spPr>
        <p:txBody>
          <a:bodyPr wrap="square" lIns="91440" tIns="45720" rIns="91440" bIns="45720" rtlCol="0" anchor="t"/>
          <a:lstStyle/>
          <a:p>
            <a:pPr marL="0" indent="0">
              <a:buNone/>
            </a:pPr>
            <a:r>
              <a:rPr lang="en-US" sz="1600" b="1">
                <a:solidFill>
                  <a:srgbClr val="1E2B24"/>
                </a:solidFill>
                <a:latin typeface="Cambria"/>
                <a:ea typeface="Cambria"/>
                <a:cs typeface="Cambria" pitchFamily="34" charset="-120"/>
              </a:rPr>
              <a:t>Treat waste conversion as climate action</a:t>
            </a:r>
            <a:endParaRPr lang="en-US" sz="1600">
              <a:latin typeface="Cambria"/>
              <a:ea typeface="Cambria"/>
            </a:endParaRPr>
          </a:p>
        </p:txBody>
      </p:sp>
      <p:sp>
        <p:nvSpPr>
          <p:cNvPr id="18" name="Text 13"/>
          <p:cNvSpPr/>
          <p:nvPr/>
        </p:nvSpPr>
        <p:spPr>
          <a:xfrm>
            <a:off x="914400" y="507492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Diverting organic waste into biogas, animal feed, or compost pathways directly reduces food-system emissions, linking circular economy work to SDG 13 commitments.</a:t>
            </a:r>
            <a:endParaRPr lang="en-US" sz="1600">
              <a:latin typeface="Calibri"/>
              <a:ea typeface="Calibri"/>
              <a:cs typeface="Calibri"/>
            </a:endParaRPr>
          </a:p>
        </p:txBody>
      </p:sp>
      <p:sp>
        <p:nvSpPr>
          <p:cNvPr id="19" name="Shape 14"/>
          <p:cNvSpPr/>
          <p:nvPr/>
        </p:nvSpPr>
        <p:spPr>
          <a:xfrm>
            <a:off x="6172200" y="4206240"/>
            <a:ext cx="5257800" cy="1965960"/>
          </a:xfrm>
          <a:prstGeom prst="roundRect">
            <a:avLst>
              <a:gd name="adj" fmla="val 3721"/>
            </a:avLst>
          </a:prstGeom>
          <a:solidFill>
            <a:srgbClr val="E8F0EA"/>
          </a:solidFill>
          <a:ln/>
        </p:spPr>
      </p:sp>
      <p:sp>
        <p:nvSpPr>
          <p:cNvPr id="20" name="Shape 15"/>
          <p:cNvSpPr/>
          <p:nvPr/>
        </p:nvSpPr>
        <p:spPr>
          <a:xfrm>
            <a:off x="6446520" y="4480560"/>
            <a:ext cx="548640" cy="548640"/>
          </a:xfrm>
          <a:prstGeom prst="ellipse">
            <a:avLst/>
          </a:prstGeom>
          <a:solidFill>
            <a:srgbClr val="1F6F4A"/>
          </a:solidFill>
          <a:ln/>
        </p:spPr>
      </p:sp>
      <p:pic>
        <p:nvPicPr>
          <p:cNvPr id="21" name="Image 3" descr="icons/projectdiagram_FFFFFF.png"/>
          <p:cNvPicPr>
            <a:picLocks noChangeAspect="1"/>
          </p:cNvPicPr>
          <p:nvPr/>
        </p:nvPicPr>
        <p:blipFill>
          <a:blip r:embed="rId6"/>
          <a:stretch>
            <a:fillRect/>
          </a:stretch>
        </p:blipFill>
        <p:spPr>
          <a:xfrm>
            <a:off x="6574536" y="4608576"/>
            <a:ext cx="292608" cy="292608"/>
          </a:xfrm>
          <a:prstGeom prst="rect">
            <a:avLst/>
          </a:prstGeom>
        </p:spPr>
      </p:pic>
      <p:sp>
        <p:nvSpPr>
          <p:cNvPr id="22" name="Text 16"/>
          <p:cNvSpPr/>
          <p:nvPr/>
        </p:nvSpPr>
        <p:spPr>
          <a:xfrm>
            <a:off x="7178040" y="4434840"/>
            <a:ext cx="4069080" cy="502920"/>
          </a:xfrm>
          <a:prstGeom prst="rect">
            <a:avLst/>
          </a:prstGeom>
          <a:noFill/>
          <a:ln/>
        </p:spPr>
        <p:txBody>
          <a:bodyPr wrap="square" lIns="91440" tIns="45720" rIns="91440" bIns="45720" rtlCol="0" anchor="t"/>
          <a:lstStyle/>
          <a:p>
            <a:pPr marL="0" indent="0">
              <a:buNone/>
            </a:pPr>
            <a:r>
              <a:rPr lang="en-US" sz="1600" b="1">
                <a:solidFill>
                  <a:srgbClr val="1E2B24"/>
                </a:solidFill>
                <a:latin typeface="Cambria"/>
                <a:ea typeface="Cambria"/>
                <a:cs typeface="Cambria" pitchFamily="34" charset="-120"/>
              </a:rPr>
              <a:t>Operationalize the dashboard</a:t>
            </a:r>
            <a:endParaRPr lang="en-US" sz="1600">
              <a:latin typeface="Cambria"/>
              <a:ea typeface="Cambria"/>
            </a:endParaRPr>
          </a:p>
        </p:txBody>
      </p:sp>
      <p:sp>
        <p:nvSpPr>
          <p:cNvPr id="23" name="Text 17"/>
          <p:cNvSpPr/>
          <p:nvPr/>
        </p:nvSpPr>
        <p:spPr>
          <a:xfrm>
            <a:off x="6446520" y="5074920"/>
            <a:ext cx="4709160" cy="914400"/>
          </a:xfrm>
          <a:prstGeom prst="rect">
            <a:avLst/>
          </a:prstGeom>
          <a:noFill/>
          <a:ln/>
        </p:spPr>
        <p:txBody>
          <a:bodyPr wrap="square" lIns="91440" tIns="45720" rIns="91440" bIns="45720" rtlCol="0" anchor="t"/>
          <a:lstStyle/>
          <a:p>
            <a:pPr marL="0" indent="0">
              <a:lnSpc>
                <a:spcPct val="115000"/>
              </a:lnSpc>
              <a:buNone/>
            </a:pPr>
            <a:r>
              <a:rPr lang="en-US" sz="1600">
                <a:solidFill>
                  <a:srgbClr val="5B6B62"/>
                </a:solidFill>
                <a:latin typeface="Calibri"/>
                <a:ea typeface="Calibri"/>
                <a:cs typeface="Calibri"/>
              </a:rPr>
              <a:t>Use the Power BI dashboard as a living monitoring tool — updated as new FAOSTAT/World Bank data arrives — to track progress and re-prioritize interventions over time.</a:t>
            </a:r>
            <a:endParaRPr lang="en-US" sz="1600">
              <a:latin typeface="Calibri"/>
              <a:ea typeface="Calibri"/>
              <a:cs typeface="Calibri"/>
            </a:endParaRPr>
          </a:p>
        </p:txBody>
      </p:sp>
      <p:sp>
        <p:nvSpPr>
          <p:cNvPr id="24" name="Text 18"/>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25" name="Text 19"/>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11</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526"/>
        </a:solidFill>
        <a:effectLst/>
      </p:bgPr>
    </p:bg>
    <p:spTree>
      <p:nvGrpSpPr>
        <p:cNvPr id="1" name=""/>
        <p:cNvGrpSpPr/>
        <p:nvPr/>
      </p:nvGrpSpPr>
      <p:grpSpPr>
        <a:xfrm>
          <a:off x="0" y="0"/>
          <a:ext cx="0" cy="0"/>
          <a:chOff x="0" y="0"/>
          <a:chExt cx="0" cy="0"/>
        </a:xfrm>
      </p:grpSpPr>
      <p:sp>
        <p:nvSpPr>
          <p:cNvPr id="2" name="Shape 0"/>
          <p:cNvSpPr/>
          <p:nvPr/>
        </p:nvSpPr>
        <p:spPr>
          <a:xfrm>
            <a:off x="-1966686" y="-1923143"/>
            <a:ext cx="5486400" cy="5486400"/>
          </a:xfrm>
          <a:prstGeom prst="ellipse">
            <a:avLst/>
          </a:prstGeom>
          <a:solidFill>
            <a:srgbClr val="1F6F4A">
              <a:alpha val="20000"/>
            </a:srgbClr>
          </a:solidFill>
          <a:ln/>
        </p:spPr>
      </p:sp>
      <p:sp>
        <p:nvSpPr>
          <p:cNvPr id="3" name="Text 1"/>
          <p:cNvSpPr/>
          <p:nvPr/>
        </p:nvSpPr>
        <p:spPr>
          <a:xfrm>
            <a:off x="777240" y="594360"/>
            <a:ext cx="8229600" cy="548640"/>
          </a:xfrm>
          <a:prstGeom prst="rect">
            <a:avLst/>
          </a:prstGeom>
          <a:noFill/>
          <a:ln/>
        </p:spPr>
        <p:txBody>
          <a:bodyPr wrap="square" rtlCol="0" anchor="ctr"/>
          <a:lstStyle/>
          <a:p>
            <a:pPr marL="0" indent="0">
              <a:buNone/>
            </a:pPr>
            <a:r>
              <a:rPr lang="en-US" sz="1400" b="1" kern="0" spc="100">
                <a:solidFill>
                  <a:srgbClr val="9FB8AB"/>
                </a:solidFill>
                <a:latin typeface="Calibri" pitchFamily="34" charset="0"/>
                <a:ea typeface="Calibri" pitchFamily="34" charset="-122"/>
                <a:cs typeface="Calibri" pitchFamily="34" charset="-120"/>
              </a:rPr>
              <a:t>09  Conclusion</a:t>
            </a:r>
            <a:endParaRPr lang="en-US" sz="1400"/>
          </a:p>
        </p:txBody>
      </p:sp>
      <p:sp>
        <p:nvSpPr>
          <p:cNvPr id="4" name="Text 2"/>
          <p:cNvSpPr/>
          <p:nvPr/>
        </p:nvSpPr>
        <p:spPr>
          <a:xfrm>
            <a:off x="777240" y="1051560"/>
            <a:ext cx="10607040" cy="1188720"/>
          </a:xfrm>
          <a:prstGeom prst="rect">
            <a:avLst/>
          </a:prstGeom>
          <a:noFill/>
          <a:ln/>
        </p:spPr>
        <p:txBody>
          <a:bodyPr wrap="square" rtlCol="0" anchor="ctr"/>
          <a:lstStyle/>
          <a:p>
            <a:pPr marL="0" indent="0">
              <a:buNone/>
            </a:pPr>
            <a:r>
              <a:rPr lang="en-US" sz="2800" b="1">
                <a:solidFill>
                  <a:srgbClr val="FFFFFF"/>
                </a:solidFill>
                <a:latin typeface="Cambria" pitchFamily="34" charset="0"/>
                <a:ea typeface="Cambria" pitchFamily="34" charset="-122"/>
                <a:cs typeface="Cambria" pitchFamily="34" charset="-120"/>
              </a:rPr>
              <a:t>A reproducible, evidence-based model for circular economy prioritization</a:t>
            </a:r>
            <a:endParaRPr lang="en-US" sz="2800"/>
          </a:p>
        </p:txBody>
      </p:sp>
      <p:sp>
        <p:nvSpPr>
          <p:cNvPr id="5" name="Text 3"/>
          <p:cNvSpPr/>
          <p:nvPr/>
        </p:nvSpPr>
        <p:spPr>
          <a:xfrm>
            <a:off x="777240" y="2377440"/>
            <a:ext cx="7498080" cy="1828800"/>
          </a:xfrm>
          <a:prstGeom prst="rect">
            <a:avLst/>
          </a:prstGeom>
          <a:noFill/>
          <a:ln/>
        </p:spPr>
        <p:txBody>
          <a:bodyPr wrap="square" lIns="91440" tIns="45720" rIns="91440" bIns="45720" rtlCol="0" anchor="t"/>
          <a:lstStyle/>
          <a:p>
            <a:pPr marL="0" indent="0">
              <a:lnSpc>
                <a:spcPct val="130000"/>
              </a:lnSpc>
              <a:buNone/>
            </a:pPr>
            <a:r>
              <a:rPr lang="en-US">
                <a:solidFill>
                  <a:srgbClr val="CFE3D8"/>
                </a:solidFill>
                <a:latin typeface="Calibri"/>
                <a:ea typeface="Calibri"/>
                <a:cs typeface="Calibri"/>
              </a:rPr>
              <a:t>This project shows that data analytics and visualization can turn scattered agricultural, employment, and emissions data into a single decision-support tool. The Power BI dashboard is the final analytical artifact: a scalable, reusable model for identifying where circular economy investment will do the most good — for people, for the climate, and for economic growth</a:t>
            </a:r>
            <a:r>
              <a:rPr lang="en-US" sz="1600">
                <a:solidFill>
                  <a:srgbClr val="CFE3D8"/>
                </a:solidFill>
                <a:latin typeface="Calibri"/>
                <a:ea typeface="Calibri"/>
                <a:cs typeface="Calibri"/>
              </a:rPr>
              <a:t>.</a:t>
            </a:r>
            <a:endParaRPr lang="en-US" sz="1600">
              <a:latin typeface="Calibri"/>
              <a:ea typeface="Calibri"/>
              <a:cs typeface="Calibri"/>
            </a:endParaRPr>
          </a:p>
        </p:txBody>
      </p:sp>
      <p:sp>
        <p:nvSpPr>
          <p:cNvPr id="6" name="Shape 4"/>
          <p:cNvSpPr/>
          <p:nvPr/>
        </p:nvSpPr>
        <p:spPr>
          <a:xfrm>
            <a:off x="777240" y="4434840"/>
            <a:ext cx="1005840" cy="365760"/>
          </a:xfrm>
          <a:prstGeom prst="roundRect">
            <a:avLst>
              <a:gd name="adj" fmla="val 15000"/>
            </a:avLst>
          </a:prstGeom>
          <a:solidFill>
            <a:srgbClr val="D98E30"/>
          </a:solidFill>
          <a:ln/>
        </p:spPr>
      </p:sp>
      <p:sp>
        <p:nvSpPr>
          <p:cNvPr id="7" name="Text 5"/>
          <p:cNvSpPr/>
          <p:nvPr/>
        </p:nvSpPr>
        <p:spPr>
          <a:xfrm>
            <a:off x="777240" y="4434840"/>
            <a:ext cx="1005840" cy="365760"/>
          </a:xfrm>
          <a:prstGeom prst="rect">
            <a:avLst/>
          </a:prstGeom>
          <a:noFill/>
          <a:ln/>
        </p:spPr>
        <p:txBody>
          <a:bodyPr wrap="square" rtlCol="0" anchor="ctr"/>
          <a:lstStyle/>
          <a:p>
            <a:pPr marL="0" indent="0" algn="ctr">
              <a:buNone/>
            </a:pPr>
            <a:r>
              <a:rPr lang="en-US" sz="1100" b="1">
                <a:solidFill>
                  <a:srgbClr val="123526"/>
                </a:solidFill>
                <a:latin typeface="Calibri" pitchFamily="34" charset="0"/>
                <a:ea typeface="Calibri" pitchFamily="34" charset="-122"/>
                <a:cs typeface="Calibri" pitchFamily="34" charset="-120"/>
              </a:rPr>
              <a:t>SDG 2</a:t>
            </a:r>
            <a:endParaRPr lang="en-US" sz="1100"/>
          </a:p>
        </p:txBody>
      </p:sp>
      <p:sp>
        <p:nvSpPr>
          <p:cNvPr id="8" name="Text 6"/>
          <p:cNvSpPr/>
          <p:nvPr/>
        </p:nvSpPr>
        <p:spPr>
          <a:xfrm>
            <a:off x="1874520" y="4434840"/>
            <a:ext cx="5486400" cy="365760"/>
          </a:xfrm>
          <a:prstGeom prst="rect">
            <a:avLst/>
          </a:prstGeom>
          <a:noFill/>
          <a:ln/>
        </p:spPr>
        <p:txBody>
          <a:bodyPr wrap="square" rtlCol="0" anchor="ctr"/>
          <a:lstStyle/>
          <a:p>
            <a:pPr marL="0" indent="0">
              <a:buNone/>
            </a:pPr>
            <a:r>
              <a:rPr lang="en-US" sz="1200">
                <a:solidFill>
                  <a:srgbClr val="CFE3D8"/>
                </a:solidFill>
                <a:latin typeface="Calibri" pitchFamily="34" charset="0"/>
                <a:ea typeface="Calibri" pitchFamily="34" charset="-122"/>
                <a:cs typeface="Calibri" pitchFamily="34" charset="-120"/>
              </a:rPr>
              <a:t>Zero Hunger</a:t>
            </a:r>
            <a:endParaRPr lang="en-US" sz="1200"/>
          </a:p>
        </p:txBody>
      </p:sp>
      <p:sp>
        <p:nvSpPr>
          <p:cNvPr id="9" name="Shape 7"/>
          <p:cNvSpPr/>
          <p:nvPr/>
        </p:nvSpPr>
        <p:spPr>
          <a:xfrm>
            <a:off x="777240" y="4892040"/>
            <a:ext cx="1005840" cy="365760"/>
          </a:xfrm>
          <a:prstGeom prst="roundRect">
            <a:avLst>
              <a:gd name="adj" fmla="val 15000"/>
            </a:avLst>
          </a:prstGeom>
          <a:solidFill>
            <a:srgbClr val="D98E30"/>
          </a:solidFill>
          <a:ln/>
        </p:spPr>
      </p:sp>
      <p:sp>
        <p:nvSpPr>
          <p:cNvPr id="10" name="Text 8"/>
          <p:cNvSpPr/>
          <p:nvPr/>
        </p:nvSpPr>
        <p:spPr>
          <a:xfrm>
            <a:off x="777240" y="4892040"/>
            <a:ext cx="1005840" cy="365760"/>
          </a:xfrm>
          <a:prstGeom prst="rect">
            <a:avLst/>
          </a:prstGeom>
          <a:noFill/>
          <a:ln/>
        </p:spPr>
        <p:txBody>
          <a:bodyPr wrap="square" rtlCol="0" anchor="ctr"/>
          <a:lstStyle/>
          <a:p>
            <a:pPr marL="0" indent="0" algn="ctr">
              <a:buNone/>
            </a:pPr>
            <a:r>
              <a:rPr lang="en-US" sz="1100" b="1">
                <a:solidFill>
                  <a:srgbClr val="123526"/>
                </a:solidFill>
                <a:latin typeface="Calibri" pitchFamily="34" charset="0"/>
                <a:ea typeface="Calibri" pitchFamily="34" charset="-122"/>
                <a:cs typeface="Calibri" pitchFamily="34" charset="-120"/>
              </a:rPr>
              <a:t>SDG 8</a:t>
            </a:r>
            <a:endParaRPr lang="en-US" sz="1100"/>
          </a:p>
        </p:txBody>
      </p:sp>
      <p:sp>
        <p:nvSpPr>
          <p:cNvPr id="11" name="Text 9"/>
          <p:cNvSpPr/>
          <p:nvPr/>
        </p:nvSpPr>
        <p:spPr>
          <a:xfrm>
            <a:off x="1874520" y="4892040"/>
            <a:ext cx="5486400" cy="365760"/>
          </a:xfrm>
          <a:prstGeom prst="rect">
            <a:avLst/>
          </a:prstGeom>
          <a:noFill/>
          <a:ln/>
        </p:spPr>
        <p:txBody>
          <a:bodyPr wrap="square" rtlCol="0" anchor="ctr"/>
          <a:lstStyle/>
          <a:p>
            <a:pPr marL="0" indent="0">
              <a:buNone/>
            </a:pPr>
            <a:r>
              <a:rPr lang="en-US" sz="1200">
                <a:solidFill>
                  <a:srgbClr val="CFE3D8"/>
                </a:solidFill>
                <a:latin typeface="Calibri" pitchFamily="34" charset="0"/>
                <a:ea typeface="Calibri" pitchFamily="34" charset="-122"/>
                <a:cs typeface="Calibri" pitchFamily="34" charset="-120"/>
              </a:rPr>
              <a:t>Decent Work &amp; Economic Growth</a:t>
            </a:r>
            <a:endParaRPr lang="en-US" sz="1200"/>
          </a:p>
        </p:txBody>
      </p:sp>
      <p:sp>
        <p:nvSpPr>
          <p:cNvPr id="12" name="Shape 10"/>
          <p:cNvSpPr/>
          <p:nvPr/>
        </p:nvSpPr>
        <p:spPr>
          <a:xfrm>
            <a:off x="777240" y="5349240"/>
            <a:ext cx="1005840" cy="365760"/>
          </a:xfrm>
          <a:prstGeom prst="roundRect">
            <a:avLst>
              <a:gd name="adj" fmla="val 15000"/>
            </a:avLst>
          </a:prstGeom>
          <a:solidFill>
            <a:srgbClr val="D98E30"/>
          </a:solidFill>
          <a:ln/>
        </p:spPr>
      </p:sp>
      <p:sp>
        <p:nvSpPr>
          <p:cNvPr id="13" name="Text 11"/>
          <p:cNvSpPr/>
          <p:nvPr/>
        </p:nvSpPr>
        <p:spPr>
          <a:xfrm>
            <a:off x="777240" y="5349240"/>
            <a:ext cx="1005840" cy="365760"/>
          </a:xfrm>
          <a:prstGeom prst="rect">
            <a:avLst/>
          </a:prstGeom>
          <a:noFill/>
          <a:ln/>
        </p:spPr>
        <p:txBody>
          <a:bodyPr wrap="square" rtlCol="0" anchor="ctr"/>
          <a:lstStyle/>
          <a:p>
            <a:pPr marL="0" indent="0" algn="ctr">
              <a:buNone/>
            </a:pPr>
            <a:r>
              <a:rPr lang="en-US" sz="1100" b="1">
                <a:solidFill>
                  <a:srgbClr val="123526"/>
                </a:solidFill>
                <a:latin typeface="Calibri" pitchFamily="34" charset="0"/>
                <a:ea typeface="Calibri" pitchFamily="34" charset="-122"/>
                <a:cs typeface="Calibri" pitchFamily="34" charset="-120"/>
              </a:rPr>
              <a:t>SDG 12</a:t>
            </a:r>
            <a:endParaRPr lang="en-US" sz="1100"/>
          </a:p>
        </p:txBody>
      </p:sp>
      <p:sp>
        <p:nvSpPr>
          <p:cNvPr id="14" name="Text 12"/>
          <p:cNvSpPr/>
          <p:nvPr/>
        </p:nvSpPr>
        <p:spPr>
          <a:xfrm>
            <a:off x="1874520" y="5349240"/>
            <a:ext cx="5486400" cy="365760"/>
          </a:xfrm>
          <a:prstGeom prst="rect">
            <a:avLst/>
          </a:prstGeom>
          <a:noFill/>
          <a:ln/>
        </p:spPr>
        <p:txBody>
          <a:bodyPr wrap="square" rtlCol="0" anchor="ctr"/>
          <a:lstStyle/>
          <a:p>
            <a:pPr marL="0" indent="0">
              <a:buNone/>
            </a:pPr>
            <a:r>
              <a:rPr lang="en-US" sz="1200">
                <a:solidFill>
                  <a:srgbClr val="CFE3D8"/>
                </a:solidFill>
                <a:latin typeface="Calibri" pitchFamily="34" charset="0"/>
                <a:ea typeface="Calibri" pitchFamily="34" charset="-122"/>
                <a:cs typeface="Calibri" pitchFamily="34" charset="-120"/>
              </a:rPr>
              <a:t>Responsible Consumption &amp; Production</a:t>
            </a:r>
            <a:endParaRPr lang="en-US" sz="1200"/>
          </a:p>
        </p:txBody>
      </p:sp>
      <p:sp>
        <p:nvSpPr>
          <p:cNvPr id="15" name="Shape 13"/>
          <p:cNvSpPr/>
          <p:nvPr/>
        </p:nvSpPr>
        <p:spPr>
          <a:xfrm>
            <a:off x="777240" y="5806440"/>
            <a:ext cx="1005840" cy="365760"/>
          </a:xfrm>
          <a:prstGeom prst="roundRect">
            <a:avLst>
              <a:gd name="adj" fmla="val 15000"/>
            </a:avLst>
          </a:prstGeom>
          <a:solidFill>
            <a:srgbClr val="D98E30"/>
          </a:solidFill>
          <a:ln/>
        </p:spPr>
      </p:sp>
      <p:sp>
        <p:nvSpPr>
          <p:cNvPr id="16" name="Text 14"/>
          <p:cNvSpPr/>
          <p:nvPr/>
        </p:nvSpPr>
        <p:spPr>
          <a:xfrm>
            <a:off x="777240" y="5806440"/>
            <a:ext cx="1005840" cy="365760"/>
          </a:xfrm>
          <a:prstGeom prst="rect">
            <a:avLst/>
          </a:prstGeom>
          <a:noFill/>
          <a:ln/>
        </p:spPr>
        <p:txBody>
          <a:bodyPr wrap="square" rtlCol="0" anchor="ctr"/>
          <a:lstStyle/>
          <a:p>
            <a:pPr marL="0" indent="0" algn="ctr">
              <a:buNone/>
            </a:pPr>
            <a:r>
              <a:rPr lang="en-US" sz="1100" b="1">
                <a:solidFill>
                  <a:srgbClr val="123526"/>
                </a:solidFill>
                <a:latin typeface="Calibri" pitchFamily="34" charset="0"/>
                <a:ea typeface="Calibri" pitchFamily="34" charset="-122"/>
                <a:cs typeface="Calibri" pitchFamily="34" charset="-120"/>
              </a:rPr>
              <a:t>SDG 13</a:t>
            </a:r>
            <a:endParaRPr lang="en-US" sz="1100"/>
          </a:p>
        </p:txBody>
      </p:sp>
      <p:sp>
        <p:nvSpPr>
          <p:cNvPr id="17" name="Text 15"/>
          <p:cNvSpPr/>
          <p:nvPr/>
        </p:nvSpPr>
        <p:spPr>
          <a:xfrm>
            <a:off x="1874520" y="5806440"/>
            <a:ext cx="5486400" cy="365760"/>
          </a:xfrm>
          <a:prstGeom prst="rect">
            <a:avLst/>
          </a:prstGeom>
          <a:noFill/>
          <a:ln/>
        </p:spPr>
        <p:txBody>
          <a:bodyPr wrap="square" rtlCol="0" anchor="ctr"/>
          <a:lstStyle/>
          <a:p>
            <a:pPr marL="0" indent="0">
              <a:buNone/>
            </a:pPr>
            <a:r>
              <a:rPr lang="en-US" sz="1200">
                <a:solidFill>
                  <a:srgbClr val="CFE3D8"/>
                </a:solidFill>
                <a:latin typeface="Calibri" pitchFamily="34" charset="0"/>
                <a:ea typeface="Calibri" pitchFamily="34" charset="-122"/>
                <a:cs typeface="Calibri" pitchFamily="34" charset="-120"/>
              </a:rPr>
              <a:t>Climate Action</a:t>
            </a:r>
            <a:endParaRPr lang="en-US" sz="1200"/>
          </a:p>
        </p:txBody>
      </p:sp>
      <p:sp>
        <p:nvSpPr>
          <p:cNvPr id="18" name="Shape 16"/>
          <p:cNvSpPr/>
          <p:nvPr/>
        </p:nvSpPr>
        <p:spPr>
          <a:xfrm>
            <a:off x="8686800" y="2377440"/>
            <a:ext cx="2880360" cy="3566160"/>
          </a:xfrm>
          <a:prstGeom prst="roundRect">
            <a:avLst>
              <a:gd name="adj" fmla="val 3175"/>
            </a:avLst>
          </a:prstGeom>
          <a:solidFill>
            <a:srgbClr val="1A4433"/>
          </a:solidFill>
          <a:ln w="12700">
            <a:solidFill>
              <a:srgbClr val="2C5F45"/>
            </a:solidFill>
            <a:prstDash val="solid"/>
          </a:ln>
        </p:spPr>
      </p:sp>
      <p:sp>
        <p:nvSpPr>
          <p:cNvPr id="19" name="Text 17"/>
          <p:cNvSpPr/>
          <p:nvPr/>
        </p:nvSpPr>
        <p:spPr>
          <a:xfrm>
            <a:off x="8915400" y="2606040"/>
            <a:ext cx="2423160" cy="320040"/>
          </a:xfrm>
          <a:prstGeom prst="rect">
            <a:avLst/>
          </a:prstGeom>
          <a:noFill/>
          <a:ln/>
        </p:spPr>
        <p:txBody>
          <a:bodyPr wrap="square" rtlCol="0" anchor="ctr"/>
          <a:lstStyle/>
          <a:p>
            <a:pPr marL="0" indent="0">
              <a:buNone/>
            </a:pPr>
            <a:r>
              <a:rPr lang="en-US" sz="1200" b="1">
                <a:solidFill>
                  <a:srgbClr val="D98E30"/>
                </a:solidFill>
                <a:latin typeface="Calibri" pitchFamily="34" charset="0"/>
                <a:ea typeface="Calibri" pitchFamily="34" charset="-122"/>
                <a:cs typeface="Calibri" pitchFamily="34" charset="-120"/>
              </a:rPr>
              <a:t>Final scope</a:t>
            </a:r>
            <a:endParaRPr lang="en-US" sz="1200"/>
          </a:p>
        </p:txBody>
      </p:sp>
      <p:sp>
        <p:nvSpPr>
          <p:cNvPr id="20" name="Text 18"/>
          <p:cNvSpPr/>
          <p:nvPr/>
        </p:nvSpPr>
        <p:spPr>
          <a:xfrm>
            <a:off x="8915400" y="3017520"/>
            <a:ext cx="1097280" cy="54864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8</a:t>
            </a:r>
            <a:endParaRPr lang="en-US" sz="2600"/>
          </a:p>
        </p:txBody>
      </p:sp>
      <p:sp>
        <p:nvSpPr>
          <p:cNvPr id="21" name="Text 19"/>
          <p:cNvSpPr/>
          <p:nvPr/>
        </p:nvSpPr>
        <p:spPr>
          <a:xfrm>
            <a:off x="8915400" y="3566160"/>
            <a:ext cx="2423160" cy="320040"/>
          </a:xfrm>
          <a:prstGeom prst="rect">
            <a:avLst/>
          </a:prstGeom>
          <a:noFill/>
          <a:ln/>
        </p:spPr>
        <p:txBody>
          <a:bodyPr wrap="square" rtlCol="0" anchor="ctr"/>
          <a:lstStyle/>
          <a:p>
            <a:pPr marL="0" indent="0">
              <a:buNone/>
            </a:pPr>
            <a:r>
              <a:rPr lang="en-US" sz="1100">
                <a:solidFill>
                  <a:srgbClr val="9FB8AB"/>
                </a:solidFill>
                <a:latin typeface="Calibri" pitchFamily="34" charset="0"/>
                <a:ea typeface="Calibri" pitchFamily="34" charset="-122"/>
                <a:cs typeface="Calibri" pitchFamily="34" charset="-120"/>
              </a:rPr>
              <a:t>countries</a:t>
            </a:r>
            <a:endParaRPr lang="en-US" sz="1100"/>
          </a:p>
        </p:txBody>
      </p:sp>
      <p:sp>
        <p:nvSpPr>
          <p:cNvPr id="22" name="Text 20"/>
          <p:cNvSpPr/>
          <p:nvPr/>
        </p:nvSpPr>
        <p:spPr>
          <a:xfrm>
            <a:off x="8915400" y="3931920"/>
            <a:ext cx="1097280" cy="54864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22</a:t>
            </a:r>
            <a:endParaRPr lang="en-US" sz="2600"/>
          </a:p>
        </p:txBody>
      </p:sp>
      <p:sp>
        <p:nvSpPr>
          <p:cNvPr id="23" name="Text 21"/>
          <p:cNvSpPr/>
          <p:nvPr/>
        </p:nvSpPr>
        <p:spPr>
          <a:xfrm>
            <a:off x="8915400" y="4480560"/>
            <a:ext cx="2423160" cy="320040"/>
          </a:xfrm>
          <a:prstGeom prst="rect">
            <a:avLst/>
          </a:prstGeom>
          <a:noFill/>
          <a:ln/>
        </p:spPr>
        <p:txBody>
          <a:bodyPr wrap="square" rtlCol="0" anchor="ctr"/>
          <a:lstStyle/>
          <a:p>
            <a:pPr marL="0" indent="0">
              <a:buNone/>
            </a:pPr>
            <a:r>
              <a:rPr lang="en-US" sz="1100">
                <a:solidFill>
                  <a:srgbClr val="9FB8AB"/>
                </a:solidFill>
                <a:latin typeface="Calibri" pitchFamily="34" charset="0"/>
                <a:ea typeface="Calibri" pitchFamily="34" charset="-122"/>
                <a:cs typeface="Calibri" pitchFamily="34" charset="-120"/>
              </a:rPr>
              <a:t>years</a:t>
            </a:r>
            <a:endParaRPr lang="en-US" sz="1100"/>
          </a:p>
        </p:txBody>
      </p:sp>
      <p:sp>
        <p:nvSpPr>
          <p:cNvPr id="24" name="Text 22"/>
          <p:cNvSpPr/>
          <p:nvPr/>
        </p:nvSpPr>
        <p:spPr>
          <a:xfrm>
            <a:off x="8915400" y="4846320"/>
            <a:ext cx="1097280" cy="54864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4</a:t>
            </a:r>
            <a:endParaRPr lang="en-US" sz="2600"/>
          </a:p>
        </p:txBody>
      </p:sp>
      <p:sp>
        <p:nvSpPr>
          <p:cNvPr id="25" name="Text 23"/>
          <p:cNvSpPr/>
          <p:nvPr/>
        </p:nvSpPr>
        <p:spPr>
          <a:xfrm>
            <a:off x="8915400" y="5394960"/>
            <a:ext cx="2423160" cy="320040"/>
          </a:xfrm>
          <a:prstGeom prst="rect">
            <a:avLst/>
          </a:prstGeom>
          <a:noFill/>
          <a:ln/>
        </p:spPr>
        <p:txBody>
          <a:bodyPr wrap="square" rtlCol="0" anchor="ctr"/>
          <a:lstStyle/>
          <a:p>
            <a:pPr marL="0" indent="0">
              <a:buNone/>
            </a:pPr>
            <a:r>
              <a:rPr lang="en-US" sz="1100">
                <a:solidFill>
                  <a:srgbClr val="9FB8AB"/>
                </a:solidFill>
                <a:latin typeface="Calibri" pitchFamily="34" charset="0"/>
                <a:ea typeface="Calibri" pitchFamily="34" charset="-122"/>
                <a:cs typeface="Calibri" pitchFamily="34" charset="-120"/>
              </a:rPr>
              <a:t>SDGs aligned</a:t>
            </a:r>
            <a:endParaRPr lang="en-US" sz="1100"/>
          </a:p>
        </p:txBody>
      </p:sp>
      <p:sp>
        <p:nvSpPr>
          <p:cNvPr id="26" name="Text 24"/>
          <p:cNvSpPr/>
          <p:nvPr/>
        </p:nvSpPr>
        <p:spPr>
          <a:xfrm>
            <a:off x="8915400" y="5760720"/>
            <a:ext cx="1097280" cy="54864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1</a:t>
            </a:r>
            <a:endParaRPr lang="en-US" sz="2600"/>
          </a:p>
        </p:txBody>
      </p:sp>
      <p:sp>
        <p:nvSpPr>
          <p:cNvPr id="27" name="Text 25"/>
          <p:cNvSpPr/>
          <p:nvPr/>
        </p:nvSpPr>
        <p:spPr>
          <a:xfrm>
            <a:off x="8915400" y="6309360"/>
            <a:ext cx="2423160" cy="320040"/>
          </a:xfrm>
          <a:prstGeom prst="rect">
            <a:avLst/>
          </a:prstGeom>
          <a:noFill/>
          <a:ln/>
        </p:spPr>
        <p:txBody>
          <a:bodyPr wrap="square" rtlCol="0" anchor="ctr"/>
          <a:lstStyle/>
          <a:p>
            <a:pPr marL="0" indent="0">
              <a:buNone/>
            </a:pPr>
            <a:r>
              <a:rPr lang="en-US" sz="1100">
                <a:solidFill>
                  <a:srgbClr val="9FB8AB"/>
                </a:solidFill>
                <a:latin typeface="Calibri" pitchFamily="34" charset="0"/>
                <a:ea typeface="Calibri" pitchFamily="34" charset="-122"/>
                <a:cs typeface="Calibri" pitchFamily="34" charset="-120"/>
              </a:rPr>
              <a:t>live dashboard</a:t>
            </a:r>
            <a:endParaRPr lang="en-US" sz="1100"/>
          </a:p>
        </p:txBody>
      </p:sp>
      <p:sp>
        <p:nvSpPr>
          <p:cNvPr id="28" name="Text 26"/>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9FB8AB"/>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29" name="Text 27"/>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9FB8AB"/>
                </a:solidFill>
                <a:latin typeface="Calibri" pitchFamily="34" charset="0"/>
                <a:ea typeface="Calibri" pitchFamily="34" charset="-122"/>
                <a:cs typeface="Calibri" pitchFamily="34" charset="-120"/>
              </a:rPr>
              <a:t>12</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10  Team Contributions</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600" b="1">
                <a:solidFill>
                  <a:srgbClr val="1E2B24"/>
                </a:solidFill>
                <a:latin typeface="Cambria" pitchFamily="34" charset="0"/>
                <a:ea typeface="Cambria" pitchFamily="34" charset="-122"/>
                <a:cs typeface="Cambria" pitchFamily="34" charset="-120"/>
              </a:rPr>
              <a:t>The Women Techsters behind this capstone project (1 of 2)</a:t>
            </a:r>
            <a:endParaRPr lang="en-US" sz="2600"/>
          </a:p>
        </p:txBody>
      </p:sp>
      <p:graphicFrame>
        <p:nvGraphicFramePr>
          <p:cNvPr id="4" name="Team Table"/>
          <p:cNvGraphicFramePr>
            <a:graphicFrameLocks noGrp="1"/>
          </p:cNvGraphicFramePr>
          <p:nvPr>
            <p:extLst>
              <p:ext uri="{D42A27DB-BD31-4B8C-83A1-F6EECF244321}">
                <p14:modId xmlns:p14="http://schemas.microsoft.com/office/powerpoint/2010/main" val="3596354040"/>
              </p:ext>
            </p:extLst>
          </p:nvPr>
        </p:nvGraphicFramePr>
        <p:xfrm>
          <a:off x="640080" y="1965960"/>
          <a:ext cx="10881360" cy="5006340"/>
        </p:xfrm>
        <a:graphic>
          <a:graphicData uri="http://schemas.openxmlformats.org/drawingml/2006/table">
            <a:tbl>
              <a:tblPr/>
              <a:tblGrid>
                <a:gridCol w="548068">
                  <a:extLst>
                    <a:ext uri="{9D8B030D-6E8A-4147-A177-3AD203B41FA5}">
                      <a16:colId xmlns:a16="http://schemas.microsoft.com/office/drawing/2014/main" val="20000"/>
                    </a:ext>
                  </a:extLst>
                </a:gridCol>
                <a:gridCol w="1961292">
                  <a:extLst>
                    <a:ext uri="{9D8B030D-6E8A-4147-A177-3AD203B41FA5}">
                      <a16:colId xmlns:a16="http://schemas.microsoft.com/office/drawing/2014/main" val="20001"/>
                    </a:ext>
                  </a:extLst>
                </a:gridCol>
                <a:gridCol w="1731000">
                  <a:extLst>
                    <a:ext uri="{9D8B030D-6E8A-4147-A177-3AD203B41FA5}">
                      <a16:colId xmlns:a16="http://schemas.microsoft.com/office/drawing/2014/main" val="20002"/>
                    </a:ext>
                  </a:extLst>
                </a:gridCol>
                <a:gridCol w="1861000">
                  <a:extLst>
                    <a:ext uri="{9D8B030D-6E8A-4147-A177-3AD203B41FA5}">
                      <a16:colId xmlns:a16="http://schemas.microsoft.com/office/drawing/2014/main" val="20003"/>
                    </a:ext>
                  </a:extLst>
                </a:gridCol>
                <a:gridCol w="4780000">
                  <a:extLst>
                    <a:ext uri="{9D8B030D-6E8A-4147-A177-3AD203B41FA5}">
                      <a16:colId xmlns:a16="http://schemas.microsoft.com/office/drawing/2014/main" val="20004"/>
                    </a:ext>
                  </a:extLst>
                </a:gridCol>
              </a:tblGrid>
              <a:tr h="41148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S/N</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Name</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Women </a:t>
                      </a:r>
                      <a:r>
                        <a:rPr lang="en-US" sz="1400" b="1" dirty="0" err="1">
                          <a:solidFill>
                            <a:srgbClr val="FFFFFF"/>
                          </a:solidFill>
                          <a:latin typeface="Calibri" pitchFamily="34" charset="0"/>
                          <a:ea typeface="Calibri" pitchFamily="34" charset="-122"/>
                          <a:cs typeface="Calibri" pitchFamily="34" charset="-120"/>
                        </a:rPr>
                        <a:t>Techster</a:t>
                      </a:r>
                      <a:r>
                        <a:rPr lang="en-US" sz="1400" b="1" dirty="0">
                          <a:solidFill>
                            <a:srgbClr val="FFFFFF"/>
                          </a:solidFill>
                          <a:latin typeface="Calibri" pitchFamily="34" charset="0"/>
                          <a:ea typeface="Calibri" pitchFamily="34" charset="-122"/>
                          <a:cs typeface="Calibri" pitchFamily="34" charset="-120"/>
                        </a:rPr>
                        <a:t> ID</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WT Course</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Role during the Capstone Project</a:t>
                      </a:r>
                    </a:p>
                  </a:txBody>
                  <a:tcPr marL="0" marR="0" marT="0" marB="0" anchor="ctr">
                    <a:solidFill>
                      <a:srgbClr val="16513A"/>
                    </a:solidFill>
                  </a:tcPr>
                </a:tc>
                <a:extLst>
                  <a:ext uri="{0D108BD9-81ED-4DB2-BD59-A6C34878D82A}">
                    <a16:rowId xmlns:a16="http://schemas.microsoft.com/office/drawing/2014/main" val="10000"/>
                  </a:ext>
                </a:extLst>
              </a:tr>
              <a:tr h="800100">
                <a:tc>
                  <a:txBody>
                    <a:bodyPr/>
                    <a:lstStyle/>
                    <a:p>
                      <a:pPr marL="0" indent="0" algn="ctr">
                        <a:buNone/>
                      </a:pPr>
                      <a:r>
                        <a:rPr lang="en-US" sz="1000" dirty="0">
                          <a:solidFill>
                            <a:srgbClr val="1E2B24"/>
                          </a:solidFill>
                          <a:latin typeface="Calibri" pitchFamily="34" charset="0"/>
                          <a:ea typeface="Calibri" pitchFamily="34" charset="-122"/>
                          <a:cs typeface="Calibri" pitchFamily="34" charset="-120"/>
                        </a:rPr>
                        <a:t>1</a:t>
                      </a:r>
                    </a:p>
                  </a:txBody>
                  <a:tcPr marL="0" marR="0" marT="0" marB="0" anchor="ctr">
                    <a:solidFill>
                      <a:srgbClr val="FFFFFF"/>
                    </a:solidFill>
                  </a:tcPr>
                </a:tc>
                <a:tc>
                  <a:txBody>
                    <a:bodyPr/>
                    <a:lstStyle/>
                    <a:p>
                      <a:pPr marL="0" indent="0" algn="l">
                        <a:buNone/>
                      </a:pPr>
                      <a:r>
                        <a:rPr lang="en-US" sz="1800" b="0">
                          <a:solidFill>
                            <a:srgbClr val="1E2B24"/>
                          </a:solidFill>
                          <a:latin typeface="Calibri"/>
                          <a:ea typeface="Calibri"/>
                          <a:cs typeface="Calibri"/>
                        </a:rPr>
                        <a:t>Swiri Mercy Che</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WTB/2026/5.1/2313</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FFFFFF"/>
                    </a:solidFill>
                  </a:tcPr>
                </a:tc>
                <a:tc>
                  <a:txBody>
                    <a:bodyPr/>
                    <a:lstStyle/>
                    <a:p>
                      <a:pPr marL="0" indent="0" algn="l">
                        <a:buNone/>
                      </a:pPr>
                      <a:r>
                        <a:rPr lang="en-US" sz="1800">
                          <a:solidFill>
                            <a:srgbClr val="1E2B24"/>
                          </a:solidFill>
                          <a:latin typeface="Calibri"/>
                          <a:ea typeface="Calibri"/>
                          <a:cs typeface="Calibri"/>
                        </a:rPr>
                        <a:t>Group Coordinator; Data Cleaning; Power BI Dashboard Developer; Data Visualization Specialist; Prompt Engineering; Presentation Lead</a:t>
                      </a:r>
                    </a:p>
                  </a:txBody>
                  <a:tcPr marL="0" marR="0" marT="0" marB="0" anchor="ctr">
                    <a:solidFill>
                      <a:srgbClr val="FFFFFF"/>
                    </a:solidFill>
                  </a:tcPr>
                </a:tc>
                <a:extLst>
                  <a:ext uri="{0D108BD9-81ED-4DB2-BD59-A6C34878D82A}">
                    <a16:rowId xmlns:a16="http://schemas.microsoft.com/office/drawing/2014/main" val="10001"/>
                  </a:ext>
                </a:extLst>
              </a:tr>
              <a:tr h="800100">
                <a:tc>
                  <a:txBody>
                    <a:bodyPr/>
                    <a:lstStyle/>
                    <a:p>
                      <a:pPr marL="0" indent="0" algn="ctr">
                        <a:buNone/>
                      </a:pPr>
                      <a:r>
                        <a:rPr lang="en-US" sz="1000" dirty="0">
                          <a:solidFill>
                            <a:srgbClr val="1E2B24"/>
                          </a:solidFill>
                          <a:latin typeface="Calibri" pitchFamily="34" charset="0"/>
                          <a:ea typeface="Calibri" pitchFamily="34" charset="-122"/>
                          <a:cs typeface="Calibri" pitchFamily="34" charset="-120"/>
                        </a:rPr>
                        <a:t>2</a:t>
                      </a:r>
                    </a:p>
                  </a:txBody>
                  <a:tcPr marL="0" marR="0" marT="0" marB="0" anchor="ctr">
                    <a:solidFill>
                      <a:srgbClr val="E8F0EA"/>
                    </a:solidFill>
                  </a:tcPr>
                </a:tc>
                <a:tc>
                  <a:txBody>
                    <a:bodyPr/>
                    <a:lstStyle/>
                    <a:p>
                      <a:pPr marL="0" indent="0" algn="l">
                        <a:buNone/>
                      </a:pPr>
                      <a:r>
                        <a:rPr lang="en-US" sz="1800" b="0">
                          <a:solidFill>
                            <a:srgbClr val="1E2B24"/>
                          </a:solidFill>
                          <a:latin typeface="Calibri"/>
                          <a:ea typeface="Calibri"/>
                          <a:cs typeface="Calibri"/>
                        </a:rPr>
                        <a:t>Gloria Ndiana Inyang</a:t>
                      </a: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WTB/2026/5.1/0726</a:t>
                      </a: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Technical Project Management</a:t>
                      </a:r>
                    </a:p>
                  </a:txBody>
                  <a:tcPr marL="0" marR="0" marT="0" marB="0" anchor="ctr">
                    <a:solidFill>
                      <a:srgbClr val="E8F0EA"/>
                    </a:solidFill>
                  </a:tcPr>
                </a:tc>
                <a:tc>
                  <a:txBody>
                    <a:bodyPr/>
                    <a:lstStyle/>
                    <a:p>
                      <a:pPr marL="0" indent="0" algn="l">
                        <a:buNone/>
                      </a:pPr>
                      <a:r>
                        <a:rPr lang="en-US" sz="1800">
                          <a:solidFill>
                            <a:srgbClr val="1E2B24"/>
                          </a:solidFill>
                          <a:latin typeface="Calibri"/>
                          <a:ea typeface="Calibri"/>
                          <a:cs typeface="Calibri"/>
                        </a:rPr>
                        <a:t>Operations &amp; Team Coordination; Data Collection; Project Publishing; Prompt Engineering</a:t>
                      </a:r>
                    </a:p>
                  </a:txBody>
                  <a:tcPr marL="0" marR="0" marT="0" marB="0" anchor="ctr">
                    <a:solidFill>
                      <a:srgbClr val="E8F0EA"/>
                    </a:solidFill>
                  </a:tcPr>
                </a:tc>
                <a:extLst>
                  <a:ext uri="{0D108BD9-81ED-4DB2-BD59-A6C34878D82A}">
                    <a16:rowId xmlns:a16="http://schemas.microsoft.com/office/drawing/2014/main" val="10002"/>
                  </a:ext>
                </a:extLst>
              </a:tr>
              <a:tr h="800100">
                <a:tc>
                  <a:txBody>
                    <a:bodyPr/>
                    <a:lstStyle/>
                    <a:p>
                      <a:pPr marL="0" indent="0" algn="ctr">
                        <a:buNone/>
                      </a:pPr>
                      <a:r>
                        <a:rPr lang="en-US" sz="1000" b="0" dirty="0">
                          <a:solidFill>
                            <a:srgbClr val="1E2B24"/>
                          </a:solidFill>
                          <a:latin typeface="Calibri" pitchFamily="34" charset="0"/>
                          <a:ea typeface="Calibri" pitchFamily="34" charset="-122"/>
                          <a:cs typeface="Calibri" pitchFamily="34" charset="-120"/>
                        </a:rPr>
                        <a:t>3</a:t>
                      </a:r>
                    </a:p>
                  </a:txBody>
                  <a:tcPr marL="0" marR="0" marT="0" marB="0" anchor="ctr">
                    <a:solidFill>
                      <a:srgbClr val="FFFFFF"/>
                    </a:solidFill>
                  </a:tcPr>
                </a:tc>
                <a:tc>
                  <a:txBody>
                    <a:bodyPr/>
                    <a:lstStyle/>
                    <a:p>
                      <a:pPr marL="0" indent="0" algn="l">
                        <a:buNone/>
                      </a:pPr>
                      <a:r>
                        <a:rPr lang="en-US" sz="1800" b="0">
                          <a:solidFill>
                            <a:srgbClr val="1E2B24"/>
                          </a:solidFill>
                          <a:latin typeface="Calibri"/>
                          <a:ea typeface="Calibri"/>
                          <a:cs typeface="Calibri"/>
                        </a:rPr>
                        <a:t>Oga Flourish Oluwaseyi</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WTB/2026/5.1/0122</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Technical Project Management</a:t>
                      </a:r>
                    </a:p>
                  </a:txBody>
                  <a:tcPr marL="0" marR="0" marT="0" marB="0" anchor="ctr">
                    <a:solidFill>
                      <a:srgbClr val="FFFFFF"/>
                    </a:solidFill>
                  </a:tcPr>
                </a:tc>
                <a:tc>
                  <a:txBody>
                    <a:bodyPr/>
                    <a:lstStyle/>
                    <a:p>
                      <a:pPr marL="0" indent="0" algn="l">
                        <a:buNone/>
                      </a:pPr>
                      <a:r>
                        <a:rPr lang="en-US" sz="1800">
                          <a:solidFill>
                            <a:srgbClr val="1E2B24"/>
                          </a:solidFill>
                          <a:latin typeface="Calibri"/>
                          <a:ea typeface="Calibri"/>
                          <a:cs typeface="Calibri"/>
                        </a:rPr>
                        <a:t>Report Writer</a:t>
                      </a:r>
                    </a:p>
                  </a:txBody>
                  <a:tcPr marL="0" marR="0" marT="0" marB="0" anchor="ctr">
                    <a:solidFill>
                      <a:srgbClr val="FFFFFF"/>
                    </a:solidFill>
                  </a:tcPr>
                </a:tc>
                <a:extLst>
                  <a:ext uri="{0D108BD9-81ED-4DB2-BD59-A6C34878D82A}">
                    <a16:rowId xmlns:a16="http://schemas.microsoft.com/office/drawing/2014/main" val="10003"/>
                  </a:ext>
                </a:extLst>
              </a:tr>
              <a:tr h="800100">
                <a:tc>
                  <a:txBody>
                    <a:bodyPr/>
                    <a:lstStyle/>
                    <a:p>
                      <a:pPr marL="0" indent="0" algn="ctr">
                        <a:buNone/>
                      </a:pPr>
                      <a:r>
                        <a:rPr lang="en-US" sz="1000">
                          <a:solidFill>
                            <a:srgbClr val="1E2B24"/>
                          </a:solidFill>
                          <a:latin typeface="Calibri" pitchFamily="34" charset="0"/>
                          <a:ea typeface="Calibri" pitchFamily="34" charset="-122"/>
                          <a:cs typeface="Calibri" pitchFamily="34" charset="-120"/>
                        </a:rPr>
                        <a:t>4</a:t>
                      </a:r>
                    </a:p>
                  </a:txBody>
                  <a:tcPr marL="0" marR="0" marT="0" marB="0" anchor="ctr">
                    <a:solidFill>
                      <a:srgbClr val="E8F0EA"/>
                    </a:solidFill>
                  </a:tcPr>
                </a:tc>
                <a:tc>
                  <a:txBody>
                    <a:bodyPr/>
                    <a:lstStyle/>
                    <a:p>
                      <a:pPr marL="0" indent="0" algn="l">
                        <a:buNone/>
                      </a:pPr>
                      <a:r>
                        <a:rPr lang="en-US" sz="1800" b="0">
                          <a:solidFill>
                            <a:srgbClr val="1E2B24"/>
                          </a:solidFill>
                          <a:latin typeface="Calibri"/>
                          <a:ea typeface="Calibri"/>
                          <a:cs typeface="Calibri"/>
                        </a:rPr>
                        <a:t>Kellen </a:t>
                      </a:r>
                      <a:r>
                        <a:rPr lang="en-US" sz="1800" b="0" err="1">
                          <a:solidFill>
                            <a:srgbClr val="1E2B24"/>
                          </a:solidFill>
                          <a:latin typeface="Calibri"/>
                          <a:ea typeface="Calibri"/>
                          <a:cs typeface="Calibri"/>
                        </a:rPr>
                        <a:t>Kavosa</a:t>
                      </a:r>
                      <a:endParaRPr lang="en-US" sz="1800" b="0">
                        <a:solidFill>
                          <a:srgbClr val="1E2B24"/>
                        </a:solidFill>
                        <a:latin typeface="Calibri"/>
                        <a:ea typeface="Calibri"/>
                        <a:cs typeface="Calibri"/>
                      </a:endParaRP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WTB/2026/5.1/2185</a:t>
                      </a: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E8F0EA"/>
                    </a:solidFill>
                  </a:tcPr>
                </a:tc>
                <a:tc>
                  <a:txBody>
                    <a:bodyPr/>
                    <a:lstStyle/>
                    <a:p>
                      <a:pPr marL="0" indent="0" algn="l">
                        <a:buNone/>
                      </a:pPr>
                      <a:r>
                        <a:rPr lang="en-US" sz="1800">
                          <a:solidFill>
                            <a:srgbClr val="1E2B24"/>
                          </a:solidFill>
                          <a:latin typeface="Calibri"/>
                          <a:ea typeface="Calibri"/>
                          <a:cs typeface="Calibri"/>
                        </a:rPr>
                        <a:t>Quality &amp; Deliverables; Quality Assurance (QA) Reviewer; Data Collection; Data Cleaning Analyst; Exploratory Data Analysis (EDA) Analyst; Power BI Dashboard Developer; Data Visualization Specialist; Research; Presentation Lead</a:t>
                      </a:r>
                    </a:p>
                  </a:txBody>
                  <a:tcPr marL="0" marR="0" marT="0" marB="0" anchor="ctr">
                    <a:solidFill>
                      <a:srgbClr val="E8F0EA"/>
                    </a:solidFill>
                  </a:tcPr>
                </a:tc>
                <a:extLst>
                  <a:ext uri="{0D108BD9-81ED-4DB2-BD59-A6C34878D82A}">
                    <a16:rowId xmlns:a16="http://schemas.microsoft.com/office/drawing/2014/main" val="10004"/>
                  </a:ext>
                </a:extLst>
              </a:tr>
              <a:tr h="800100">
                <a:tc>
                  <a:txBody>
                    <a:bodyPr/>
                    <a:lstStyle/>
                    <a:p>
                      <a:pPr marL="0" indent="0" algn="ctr">
                        <a:buNone/>
                      </a:pPr>
                      <a:r>
                        <a:rPr lang="en-US" sz="1000">
                          <a:solidFill>
                            <a:srgbClr val="1E2B24"/>
                          </a:solidFill>
                          <a:latin typeface="Calibri" pitchFamily="34" charset="0"/>
                          <a:ea typeface="Calibri" pitchFamily="34" charset="-122"/>
                          <a:cs typeface="Calibri" pitchFamily="34" charset="-120"/>
                        </a:rPr>
                        <a:t>5</a:t>
                      </a:r>
                    </a:p>
                  </a:txBody>
                  <a:tcPr marL="0" marR="0" marT="0" marB="0" anchor="ctr">
                    <a:solidFill>
                      <a:srgbClr val="FFFFFF"/>
                    </a:solidFill>
                  </a:tcPr>
                </a:tc>
                <a:tc>
                  <a:txBody>
                    <a:bodyPr/>
                    <a:lstStyle/>
                    <a:p>
                      <a:pPr marL="0" indent="0" algn="l">
                        <a:buNone/>
                      </a:pPr>
                      <a:r>
                        <a:rPr lang="en-US" sz="1800" b="0">
                          <a:solidFill>
                            <a:srgbClr val="1E2B24"/>
                          </a:solidFill>
                          <a:latin typeface="Calibri"/>
                          <a:ea typeface="Calibri"/>
                          <a:cs typeface="Calibri"/>
                        </a:rPr>
                        <a:t>Christianah Odunola Dada</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WTB/2026/5.1/1323</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FFFFFF"/>
                    </a:solidFill>
                  </a:tcPr>
                </a:tc>
                <a:tc>
                  <a:txBody>
                    <a:bodyPr/>
                    <a:lstStyle/>
                    <a:p>
                      <a:pPr marL="0" indent="0" algn="l">
                        <a:buNone/>
                      </a:pPr>
                      <a:r>
                        <a:rPr lang="en-US" sz="1800" dirty="0">
                          <a:solidFill>
                            <a:srgbClr val="1E2B24"/>
                          </a:solidFill>
                          <a:latin typeface="Calibri"/>
                          <a:ea typeface="Calibri"/>
                          <a:cs typeface="Calibri"/>
                        </a:rPr>
                        <a:t>Data Cleaning and Data collection</a:t>
                      </a:r>
                    </a:p>
                  </a:txBody>
                  <a:tcPr marL="0" marR="0" marT="0" marB="0" anchor="ctr">
                    <a:solidFill>
                      <a:srgbClr val="FFFFFF"/>
                    </a:solidFill>
                  </a:tcPr>
                </a:tc>
                <a:extLst>
                  <a:ext uri="{0D108BD9-81ED-4DB2-BD59-A6C34878D82A}">
                    <a16:rowId xmlns:a16="http://schemas.microsoft.com/office/drawing/2014/main" val="10005"/>
                  </a:ext>
                </a:extLst>
              </a:tr>
            </a:tbl>
          </a:graphicData>
        </a:graphic>
      </p:graphicFrame>
      <p:sp>
        <p:nvSpPr>
          <p:cNvPr id="29" name="Text 23"/>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30" name="Text 24"/>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13</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b">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1400" b="1" kern="0" spc="100">
                <a:solidFill>
                  <a:srgbClr val="1F6F4A"/>
                </a:solidFill>
                <a:latin typeface="Calibri" pitchFamily="34" charset="0"/>
                <a:ea typeface="Calibri" pitchFamily="34" charset="-122"/>
                <a:cs typeface="Calibri" pitchFamily="34" charset="-120"/>
              </a:rPr>
              <a:t>11  Team Contributions</a:t>
            </a:r>
            <a:endParaRPr lang="en-US" sz="1400"/>
          </a:p>
        </p:txBody>
      </p:sp>
      <p:sp>
        <p:nvSpPr>
          <p:cNvPr id="3" name="Text 1"/>
          <p:cNvSpPr/>
          <p:nvPr/>
        </p:nvSpPr>
        <p:spPr>
          <a:xfrm>
            <a:off x="640080" y="868680"/>
            <a:ext cx="10881360" cy="822960"/>
          </a:xfrm>
          <a:prstGeom prst="rect">
            <a:avLst/>
          </a:prstGeom>
          <a:noFill/>
          <a:ln/>
        </p:spPr>
        <p:txBody>
          <a:bodyPr wrap="square" rtlCol="0" anchor="ctr"/>
          <a:lstStyle/>
          <a:p>
            <a:pPr marL="0" indent="0">
              <a:buNone/>
            </a:pPr>
            <a:r>
              <a:rPr lang="en-US" sz="2600" b="1">
                <a:solidFill>
                  <a:srgbClr val="1E2B24"/>
                </a:solidFill>
                <a:latin typeface="Cambria" pitchFamily="34" charset="0"/>
                <a:ea typeface="Cambria" pitchFamily="34" charset="-122"/>
                <a:cs typeface="Cambria" pitchFamily="34" charset="-120"/>
              </a:rPr>
              <a:t>The Women Techsters behind this capstone project (2 of 2)</a:t>
            </a:r>
            <a:endParaRPr lang="en-US" sz="2600"/>
          </a:p>
        </p:txBody>
      </p:sp>
      <p:graphicFrame>
        <p:nvGraphicFramePr>
          <p:cNvPr id="4" name="Team Table"/>
          <p:cNvGraphicFramePr>
            <a:graphicFrameLocks noGrp="1"/>
          </p:cNvGraphicFramePr>
          <p:nvPr>
            <p:extLst>
              <p:ext uri="{D42A27DB-BD31-4B8C-83A1-F6EECF244321}">
                <p14:modId xmlns:p14="http://schemas.microsoft.com/office/powerpoint/2010/main" val="4003865175"/>
              </p:ext>
            </p:extLst>
          </p:nvPr>
        </p:nvGraphicFramePr>
        <p:xfrm>
          <a:off x="640080" y="1965960"/>
          <a:ext cx="10881360" cy="4411980"/>
        </p:xfrm>
        <a:graphic>
          <a:graphicData uri="http://schemas.openxmlformats.org/drawingml/2006/table">
            <a:tbl>
              <a:tblPr/>
              <a:tblGrid>
                <a:gridCol w="548068">
                  <a:extLst>
                    <a:ext uri="{9D8B030D-6E8A-4147-A177-3AD203B41FA5}">
                      <a16:colId xmlns:a16="http://schemas.microsoft.com/office/drawing/2014/main" val="20000"/>
                    </a:ext>
                  </a:extLst>
                </a:gridCol>
                <a:gridCol w="1961292">
                  <a:extLst>
                    <a:ext uri="{9D8B030D-6E8A-4147-A177-3AD203B41FA5}">
                      <a16:colId xmlns:a16="http://schemas.microsoft.com/office/drawing/2014/main" val="20001"/>
                    </a:ext>
                  </a:extLst>
                </a:gridCol>
                <a:gridCol w="1731000">
                  <a:extLst>
                    <a:ext uri="{9D8B030D-6E8A-4147-A177-3AD203B41FA5}">
                      <a16:colId xmlns:a16="http://schemas.microsoft.com/office/drawing/2014/main" val="20002"/>
                    </a:ext>
                  </a:extLst>
                </a:gridCol>
                <a:gridCol w="1861000">
                  <a:extLst>
                    <a:ext uri="{9D8B030D-6E8A-4147-A177-3AD203B41FA5}">
                      <a16:colId xmlns:a16="http://schemas.microsoft.com/office/drawing/2014/main" val="20003"/>
                    </a:ext>
                  </a:extLst>
                </a:gridCol>
                <a:gridCol w="4780000">
                  <a:extLst>
                    <a:ext uri="{9D8B030D-6E8A-4147-A177-3AD203B41FA5}">
                      <a16:colId xmlns:a16="http://schemas.microsoft.com/office/drawing/2014/main" val="20004"/>
                    </a:ext>
                  </a:extLst>
                </a:gridCol>
              </a:tblGrid>
              <a:tr h="41148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S/N</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Name</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Women </a:t>
                      </a:r>
                      <a:r>
                        <a:rPr lang="en-US" sz="1400" b="1" dirty="0" err="1">
                          <a:solidFill>
                            <a:srgbClr val="FFFFFF"/>
                          </a:solidFill>
                          <a:latin typeface="Calibri" pitchFamily="34" charset="0"/>
                          <a:ea typeface="Calibri" pitchFamily="34" charset="-122"/>
                          <a:cs typeface="Calibri" pitchFamily="34" charset="-120"/>
                        </a:rPr>
                        <a:t>Techster</a:t>
                      </a:r>
                      <a:r>
                        <a:rPr lang="en-US" sz="1400" b="1" dirty="0">
                          <a:solidFill>
                            <a:srgbClr val="FFFFFF"/>
                          </a:solidFill>
                          <a:latin typeface="Calibri" pitchFamily="34" charset="0"/>
                          <a:ea typeface="Calibri" pitchFamily="34" charset="-122"/>
                          <a:cs typeface="Calibri" pitchFamily="34" charset="-120"/>
                        </a:rPr>
                        <a:t> ID</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WT Course</a:t>
                      </a:r>
                    </a:p>
                  </a:txBody>
                  <a:tcPr marL="0" marR="0" marT="0" marB="0" anchor="ctr">
                    <a:solidFill>
                      <a:srgbClr val="1651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Role during the Capstone Project</a:t>
                      </a:r>
                    </a:p>
                  </a:txBody>
                  <a:tcPr marL="0" marR="0" marT="0" marB="0" anchor="ctr">
                    <a:solidFill>
                      <a:srgbClr val="16513A"/>
                    </a:solidFill>
                  </a:tcPr>
                </a:tc>
                <a:extLst>
                  <a:ext uri="{0D108BD9-81ED-4DB2-BD59-A6C34878D82A}">
                    <a16:rowId xmlns:a16="http://schemas.microsoft.com/office/drawing/2014/main" val="10000"/>
                  </a:ext>
                </a:extLst>
              </a:tr>
              <a:tr h="800100">
                <a:tc>
                  <a:txBody>
                    <a:bodyPr/>
                    <a:lstStyle/>
                    <a:p>
                      <a:pPr marL="0" indent="0" algn="ctr">
                        <a:buNone/>
                      </a:pPr>
                      <a:r>
                        <a:rPr lang="en-US" sz="1000">
                          <a:solidFill>
                            <a:srgbClr val="1E2B24"/>
                          </a:solidFill>
                          <a:latin typeface="Calibri" pitchFamily="34" charset="0"/>
                          <a:ea typeface="Calibri" pitchFamily="34" charset="-122"/>
                          <a:cs typeface="Calibri" pitchFamily="34" charset="-120"/>
                        </a:rPr>
                        <a:t>6</a:t>
                      </a:r>
                    </a:p>
                  </a:txBody>
                  <a:tcPr marL="0" marR="0" marT="0" marB="0" anchor="ctr">
                    <a:solidFill>
                      <a:srgbClr val="FFFFFF"/>
                    </a:solidFill>
                  </a:tcPr>
                </a:tc>
                <a:tc>
                  <a:txBody>
                    <a:bodyPr/>
                    <a:lstStyle/>
                    <a:p>
                      <a:pPr marL="0" indent="0" algn="l">
                        <a:buNone/>
                      </a:pPr>
                      <a:r>
                        <a:rPr lang="en-US" sz="1800" b="0">
                          <a:solidFill>
                            <a:srgbClr val="1E2B24"/>
                          </a:solidFill>
                          <a:latin typeface="Calibri"/>
                          <a:ea typeface="Calibri"/>
                          <a:cs typeface="Calibri"/>
                        </a:rPr>
                        <a:t>Joy Azwihangwisi Maimela</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WTB/2026/5.1/1386</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FFFFFF"/>
                    </a:solidFill>
                  </a:tcPr>
                </a:tc>
                <a:tc>
                  <a:txBody>
                    <a:bodyPr/>
                    <a:lstStyle/>
                    <a:p>
                      <a:pPr marL="0" indent="0" algn="l">
                        <a:buNone/>
                      </a:pPr>
                      <a:r>
                        <a:rPr lang="en-US" sz="1800">
                          <a:solidFill>
                            <a:srgbClr val="1E2B24"/>
                          </a:solidFill>
                          <a:latin typeface="Calibri"/>
                          <a:ea typeface="Calibri"/>
                          <a:cs typeface="Calibri"/>
                        </a:rPr>
                        <a:t>Data Collection; Data Cleaning; Research</a:t>
                      </a:r>
                    </a:p>
                  </a:txBody>
                  <a:tcPr marL="0" marR="0" marT="0" marB="0" anchor="ctr">
                    <a:solidFill>
                      <a:srgbClr val="FFFFFF"/>
                    </a:solidFill>
                  </a:tcPr>
                </a:tc>
                <a:extLst>
                  <a:ext uri="{0D108BD9-81ED-4DB2-BD59-A6C34878D82A}">
                    <a16:rowId xmlns:a16="http://schemas.microsoft.com/office/drawing/2014/main" val="10001"/>
                  </a:ext>
                </a:extLst>
              </a:tr>
              <a:tr h="800100">
                <a:tc>
                  <a:txBody>
                    <a:bodyPr/>
                    <a:lstStyle/>
                    <a:p>
                      <a:pPr marL="0" indent="0" algn="ctr">
                        <a:buNone/>
                      </a:pPr>
                      <a:r>
                        <a:rPr lang="en-US" sz="1000" dirty="0">
                          <a:solidFill>
                            <a:srgbClr val="1E2B24"/>
                          </a:solidFill>
                          <a:latin typeface="Calibri" pitchFamily="34" charset="0"/>
                          <a:ea typeface="Calibri" pitchFamily="34" charset="-122"/>
                          <a:cs typeface="Calibri" pitchFamily="34" charset="-120"/>
                        </a:rPr>
                        <a:t>7</a:t>
                      </a:r>
                    </a:p>
                  </a:txBody>
                  <a:tcPr marL="0" marR="0" marT="0" marB="0" anchor="ctr">
                    <a:solidFill>
                      <a:srgbClr val="E8F0EA"/>
                    </a:solidFill>
                  </a:tcPr>
                </a:tc>
                <a:tc>
                  <a:txBody>
                    <a:bodyPr/>
                    <a:lstStyle/>
                    <a:p>
                      <a:pPr marL="0" indent="0" algn="l">
                        <a:buNone/>
                      </a:pPr>
                      <a:r>
                        <a:rPr lang="en-US" sz="1800" b="0">
                          <a:solidFill>
                            <a:srgbClr val="1E2B24"/>
                          </a:solidFill>
                          <a:latin typeface="Calibri"/>
                          <a:ea typeface="Calibri"/>
                          <a:cs typeface="Calibri"/>
                        </a:rPr>
                        <a:t>Onyinyechukwu Tenderly </a:t>
                      </a:r>
                      <a:r>
                        <a:rPr lang="en-US" sz="1800" b="0" err="1">
                          <a:solidFill>
                            <a:srgbClr val="1E2B24"/>
                          </a:solidFill>
                          <a:latin typeface="Calibri"/>
                          <a:ea typeface="Calibri"/>
                          <a:cs typeface="Calibri"/>
                        </a:rPr>
                        <a:t>Oyeoka</a:t>
                      </a:r>
                      <a:endParaRPr lang="en-US" sz="1800" b="0">
                        <a:solidFill>
                          <a:srgbClr val="1E2B24"/>
                        </a:solidFill>
                        <a:latin typeface="Calibri"/>
                        <a:ea typeface="Calibri"/>
                        <a:cs typeface="Calibri"/>
                      </a:endParaRP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WTB/2026/5.1/1863</a:t>
                      </a: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E8F0EA"/>
                    </a:solidFill>
                  </a:tcPr>
                </a:tc>
                <a:tc>
                  <a:txBody>
                    <a:bodyPr/>
                    <a:lstStyle/>
                    <a:p>
                      <a:pPr marL="0" indent="0" algn="l">
                        <a:buNone/>
                      </a:pPr>
                      <a:r>
                        <a:rPr lang="en-US" sz="1800">
                          <a:solidFill>
                            <a:srgbClr val="1E2B24"/>
                          </a:solidFill>
                          <a:latin typeface="Calibri"/>
                          <a:ea typeface="Calibri"/>
                          <a:cs typeface="Calibri"/>
                        </a:rPr>
                        <a:t>Data Collection; Data Cleaning; Documentation Officer</a:t>
                      </a:r>
                    </a:p>
                  </a:txBody>
                  <a:tcPr marL="0" marR="0" marT="0" marB="0" anchor="ctr">
                    <a:solidFill>
                      <a:srgbClr val="E8F0EA"/>
                    </a:solidFill>
                  </a:tcPr>
                </a:tc>
                <a:extLst>
                  <a:ext uri="{0D108BD9-81ED-4DB2-BD59-A6C34878D82A}">
                    <a16:rowId xmlns:a16="http://schemas.microsoft.com/office/drawing/2014/main" val="10002"/>
                  </a:ext>
                </a:extLst>
              </a:tr>
              <a:tr h="800100">
                <a:tc>
                  <a:txBody>
                    <a:bodyPr/>
                    <a:lstStyle/>
                    <a:p>
                      <a:pPr marL="0" indent="0" algn="ctr">
                        <a:buNone/>
                      </a:pPr>
                      <a:r>
                        <a:rPr lang="en-US" sz="1000">
                          <a:solidFill>
                            <a:srgbClr val="1E2B24"/>
                          </a:solidFill>
                          <a:latin typeface="Calibri" pitchFamily="34" charset="0"/>
                          <a:ea typeface="Calibri" pitchFamily="34" charset="-122"/>
                          <a:cs typeface="Calibri" pitchFamily="34" charset="-120"/>
                        </a:rPr>
                        <a:t>8</a:t>
                      </a:r>
                    </a:p>
                  </a:txBody>
                  <a:tcPr marL="0" marR="0" marT="0" marB="0" anchor="ctr">
                    <a:solidFill>
                      <a:srgbClr val="FFFFFF"/>
                    </a:solidFill>
                  </a:tcPr>
                </a:tc>
                <a:tc>
                  <a:txBody>
                    <a:bodyPr/>
                    <a:lstStyle/>
                    <a:p>
                      <a:pPr marL="0" indent="0" algn="l">
                        <a:buNone/>
                      </a:pPr>
                      <a:r>
                        <a:rPr lang="en-US" sz="1800" b="0">
                          <a:solidFill>
                            <a:srgbClr val="1E2B24"/>
                          </a:solidFill>
                          <a:latin typeface="Calibri"/>
                          <a:ea typeface="Calibri"/>
                          <a:cs typeface="Calibri"/>
                        </a:rPr>
                        <a:t>Oluwafikunayomi </a:t>
                      </a:r>
                      <a:r>
                        <a:rPr lang="en-US" sz="1800" b="0" err="1">
                          <a:solidFill>
                            <a:srgbClr val="1E2B24"/>
                          </a:solidFill>
                          <a:latin typeface="Calibri"/>
                          <a:ea typeface="Calibri"/>
                          <a:cs typeface="Calibri"/>
                        </a:rPr>
                        <a:t>Oguntade</a:t>
                      </a:r>
                      <a:endParaRPr lang="en-US" sz="1800" b="0">
                        <a:solidFill>
                          <a:srgbClr val="1E2B24"/>
                        </a:solidFill>
                        <a:latin typeface="Calibri"/>
                        <a:ea typeface="Calibri"/>
                        <a:cs typeface="Calibri"/>
                      </a:endParaRP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WTB/2026/5.1/1560</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FFFFFF"/>
                    </a:solidFill>
                  </a:tcPr>
                </a:tc>
                <a:tc>
                  <a:txBody>
                    <a:bodyPr/>
                    <a:lstStyle/>
                    <a:p>
                      <a:pPr marL="0" indent="0" algn="l">
                        <a:buNone/>
                      </a:pPr>
                      <a:r>
                        <a:rPr lang="en-US" sz="1800">
                          <a:solidFill>
                            <a:srgbClr val="1E2B24"/>
                          </a:solidFill>
                          <a:latin typeface="Calibri"/>
                          <a:ea typeface="Calibri"/>
                          <a:cs typeface="Calibri"/>
                        </a:rPr>
                        <a:t>Data Collection; Data Cleaning; Research; Prompt Engineering</a:t>
                      </a:r>
                    </a:p>
                  </a:txBody>
                  <a:tcPr marL="0" marR="0" marT="0" marB="0" anchor="ctr">
                    <a:solidFill>
                      <a:srgbClr val="FFFFFF"/>
                    </a:solidFill>
                  </a:tcPr>
                </a:tc>
                <a:extLst>
                  <a:ext uri="{0D108BD9-81ED-4DB2-BD59-A6C34878D82A}">
                    <a16:rowId xmlns:a16="http://schemas.microsoft.com/office/drawing/2014/main" val="10003"/>
                  </a:ext>
                </a:extLst>
              </a:tr>
              <a:tr h="800100">
                <a:tc>
                  <a:txBody>
                    <a:bodyPr/>
                    <a:lstStyle/>
                    <a:p>
                      <a:pPr marL="0" indent="0" algn="ctr">
                        <a:buNone/>
                      </a:pPr>
                      <a:r>
                        <a:rPr lang="en-US" sz="1000">
                          <a:solidFill>
                            <a:srgbClr val="1E2B24"/>
                          </a:solidFill>
                          <a:latin typeface="Calibri" pitchFamily="34" charset="0"/>
                          <a:ea typeface="Calibri" pitchFamily="34" charset="-122"/>
                          <a:cs typeface="Calibri" pitchFamily="34" charset="-120"/>
                        </a:rPr>
                        <a:t>9</a:t>
                      </a:r>
                    </a:p>
                  </a:txBody>
                  <a:tcPr marL="0" marR="0" marT="0" marB="0" anchor="ctr">
                    <a:solidFill>
                      <a:srgbClr val="E8F0EA"/>
                    </a:solidFill>
                  </a:tcPr>
                </a:tc>
                <a:tc>
                  <a:txBody>
                    <a:bodyPr/>
                    <a:lstStyle/>
                    <a:p>
                      <a:pPr marL="0" indent="0" algn="l">
                        <a:buNone/>
                      </a:pPr>
                      <a:r>
                        <a:rPr lang="en-US" sz="1800" b="0">
                          <a:solidFill>
                            <a:srgbClr val="1E2B24"/>
                          </a:solidFill>
                          <a:latin typeface="Calibri"/>
                          <a:ea typeface="Calibri"/>
                          <a:cs typeface="Calibri"/>
                        </a:rPr>
                        <a:t>Oguntoyinbo Esther Kanyinsola</a:t>
                      </a: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WTB/2026/5.1/1440</a:t>
                      </a:r>
                    </a:p>
                  </a:txBody>
                  <a:tcPr marL="0" marR="0" marT="0" marB="0" anchor="ctr">
                    <a:solidFill>
                      <a:srgbClr val="E8F0EA"/>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E8F0EA"/>
                    </a:solidFill>
                  </a:tcPr>
                </a:tc>
                <a:tc>
                  <a:txBody>
                    <a:bodyPr/>
                    <a:lstStyle/>
                    <a:p>
                      <a:pPr marL="0" indent="0" algn="l">
                        <a:buNone/>
                      </a:pPr>
                      <a:r>
                        <a:rPr lang="en-US" sz="1800">
                          <a:solidFill>
                            <a:srgbClr val="1E2B24"/>
                          </a:solidFill>
                          <a:latin typeface="Calibri"/>
                          <a:ea typeface="Calibri"/>
                          <a:cs typeface="Calibri"/>
                        </a:rPr>
                        <a:t>Data Cleaning; Data Cleaning Analyst</a:t>
                      </a:r>
                    </a:p>
                  </a:txBody>
                  <a:tcPr marL="0" marR="0" marT="0" marB="0" anchor="ctr">
                    <a:solidFill>
                      <a:srgbClr val="E8F0EA"/>
                    </a:solidFill>
                  </a:tcPr>
                </a:tc>
                <a:extLst>
                  <a:ext uri="{0D108BD9-81ED-4DB2-BD59-A6C34878D82A}">
                    <a16:rowId xmlns:a16="http://schemas.microsoft.com/office/drawing/2014/main" val="10004"/>
                  </a:ext>
                </a:extLst>
              </a:tr>
              <a:tr h="800100">
                <a:tc>
                  <a:txBody>
                    <a:bodyPr/>
                    <a:lstStyle/>
                    <a:p>
                      <a:pPr marL="0" indent="0" algn="ctr">
                        <a:buNone/>
                      </a:pPr>
                      <a:r>
                        <a:rPr lang="en-US" sz="1000">
                          <a:solidFill>
                            <a:srgbClr val="1E2B24"/>
                          </a:solidFill>
                          <a:latin typeface="Calibri" pitchFamily="34" charset="0"/>
                          <a:ea typeface="Calibri" pitchFamily="34" charset="-122"/>
                          <a:cs typeface="Calibri" pitchFamily="34" charset="-120"/>
                        </a:rPr>
                        <a:t>10</a:t>
                      </a:r>
                    </a:p>
                  </a:txBody>
                  <a:tcPr marL="0" marR="0" marT="0" marB="0" anchor="ctr">
                    <a:solidFill>
                      <a:srgbClr val="FFFFFF"/>
                    </a:solidFill>
                  </a:tcPr>
                </a:tc>
                <a:tc>
                  <a:txBody>
                    <a:bodyPr/>
                    <a:lstStyle/>
                    <a:p>
                      <a:pPr marL="0" indent="0" algn="l">
                        <a:buNone/>
                      </a:pPr>
                      <a:r>
                        <a:rPr lang="en-US" sz="1800" b="0" err="1">
                          <a:solidFill>
                            <a:srgbClr val="1E2B24"/>
                          </a:solidFill>
                          <a:latin typeface="Calibri"/>
                          <a:ea typeface="Calibri"/>
                          <a:cs typeface="Calibri"/>
                        </a:rPr>
                        <a:t>Namakau</a:t>
                      </a:r>
                      <a:r>
                        <a:rPr lang="en-US" sz="1800" b="0">
                          <a:solidFill>
                            <a:srgbClr val="1E2B24"/>
                          </a:solidFill>
                          <a:latin typeface="Calibri"/>
                          <a:ea typeface="Calibri"/>
                          <a:cs typeface="Calibri"/>
                        </a:rPr>
                        <a:t> </a:t>
                      </a:r>
                      <a:r>
                        <a:rPr lang="en-US" sz="1800" b="0" err="1">
                          <a:solidFill>
                            <a:srgbClr val="1E2B24"/>
                          </a:solidFill>
                          <a:latin typeface="Calibri"/>
                          <a:ea typeface="Calibri"/>
                          <a:cs typeface="Calibri"/>
                        </a:rPr>
                        <a:t>Nangomba</a:t>
                      </a:r>
                      <a:endParaRPr lang="en-US" sz="1800" b="0">
                        <a:solidFill>
                          <a:srgbClr val="1E2B24"/>
                        </a:solidFill>
                        <a:latin typeface="Calibri"/>
                        <a:ea typeface="Calibri"/>
                        <a:cs typeface="Calibri"/>
                      </a:endParaRP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WTB/2026/5.1/1408</a:t>
                      </a:r>
                    </a:p>
                  </a:txBody>
                  <a:tcPr marL="0" marR="0" marT="0" marB="0" anchor="ctr">
                    <a:solidFill>
                      <a:srgbClr val="FFFFFF"/>
                    </a:solidFill>
                  </a:tcPr>
                </a:tc>
                <a:tc>
                  <a:txBody>
                    <a:bodyPr/>
                    <a:lstStyle/>
                    <a:p>
                      <a:pPr marL="0" indent="0" algn="l">
                        <a:buNone/>
                      </a:pPr>
                      <a:r>
                        <a:rPr lang="en-US" sz="1800">
                          <a:solidFill>
                            <a:srgbClr val="5B6B62"/>
                          </a:solidFill>
                          <a:latin typeface="Calibri"/>
                          <a:ea typeface="Calibri"/>
                          <a:cs typeface="Calibri"/>
                        </a:rPr>
                        <a:t>Data Analysis</a:t>
                      </a:r>
                    </a:p>
                  </a:txBody>
                  <a:tcPr marL="0" marR="0" marT="0" marB="0" anchor="ctr">
                    <a:solidFill>
                      <a:srgbClr val="FFFFFF"/>
                    </a:solidFill>
                  </a:tcPr>
                </a:tc>
                <a:tc>
                  <a:txBody>
                    <a:bodyPr/>
                    <a:lstStyle/>
                    <a:p>
                      <a:pPr marL="0" indent="0" algn="l">
                        <a:buNone/>
                      </a:pPr>
                      <a:r>
                        <a:rPr lang="en-US" sz="1800" dirty="0">
                          <a:solidFill>
                            <a:srgbClr val="1E2B24"/>
                          </a:solidFill>
                          <a:latin typeface="Calibri"/>
                          <a:ea typeface="Calibri"/>
                          <a:cs typeface="Calibri"/>
                        </a:rPr>
                        <a:t>Data Collection; Data Cleaning; Research; Quality Assurance (QA) Reviewer</a:t>
                      </a:r>
                    </a:p>
                  </a:txBody>
                  <a:tcPr marL="0" marR="0" marT="0" marB="0" anchor="ctr">
                    <a:solidFill>
                      <a:srgbClr val="FFFFFF"/>
                    </a:solidFill>
                  </a:tcPr>
                </a:tc>
                <a:extLst>
                  <a:ext uri="{0D108BD9-81ED-4DB2-BD59-A6C34878D82A}">
                    <a16:rowId xmlns:a16="http://schemas.microsoft.com/office/drawing/2014/main" val="10005"/>
                  </a:ext>
                </a:extLst>
              </a:tr>
            </a:tbl>
          </a:graphicData>
        </a:graphic>
      </p:graphicFrame>
      <p:sp>
        <p:nvSpPr>
          <p:cNvPr id="29" name="Text 23"/>
          <p:cNvSpPr/>
          <p:nvPr/>
        </p:nvSpPr>
        <p:spPr>
          <a:xfrm>
            <a:off x="457200" y="6492240"/>
            <a:ext cx="7315200" cy="274320"/>
          </a:xfrm>
          <a:prstGeom prst="rect">
            <a:avLst/>
          </a:prstGeom>
          <a:noFill/>
          <a:ln/>
        </p:spPr>
        <p:txBody>
          <a:bodyPr wrap="square" rtlCol="0" anchor="ctr"/>
          <a:lstStyle/>
          <a:p>
            <a:pPr marL="0" indent="0" algn="l">
              <a:buNone/>
            </a:pPr>
            <a:r>
              <a:rPr lang="en-US" sz="900">
                <a:solidFill>
                  <a:srgbClr val="5B6B62"/>
                </a:solidFill>
                <a:latin typeface="Calibri" pitchFamily="34" charset="0"/>
                <a:ea typeface="Calibri" pitchFamily="34" charset="-122"/>
                <a:cs typeface="Calibri" pitchFamily="34" charset="-120"/>
              </a:rPr>
              <a:t>Advancing Circular Economy Practices in Agricultural Waste Management</a:t>
            </a:r>
            <a:endParaRPr lang="en-US" sz="900"/>
          </a:p>
        </p:txBody>
      </p:sp>
      <p:sp>
        <p:nvSpPr>
          <p:cNvPr id="30" name="Text 24"/>
          <p:cNvSpPr/>
          <p:nvPr/>
        </p:nvSpPr>
        <p:spPr>
          <a:xfrm>
            <a:off x="11277295" y="6492240"/>
            <a:ext cx="457200" cy="274320"/>
          </a:xfrm>
          <a:prstGeom prst="rect">
            <a:avLst/>
          </a:prstGeom>
          <a:noFill/>
          <a:ln/>
        </p:spPr>
        <p:txBody>
          <a:bodyPr wrap="square" rtlCol="0" anchor="ctr"/>
          <a:lstStyle/>
          <a:p>
            <a:pPr marL="0" indent="0" algn="r">
              <a:buNone/>
            </a:pPr>
            <a:r>
              <a:rPr lang="en-US" sz="900">
                <a:solidFill>
                  <a:srgbClr val="5B6B62"/>
                </a:solidFill>
                <a:latin typeface="Calibri" pitchFamily="34" charset="0"/>
                <a:ea typeface="Calibri" pitchFamily="34" charset="-122"/>
                <a:cs typeface="Calibri" pitchFamily="34" charset="-120"/>
              </a:rPr>
              <a:t>14</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16513A"/>
        </a:solidFill>
        <a:effectLst/>
      </p:bgPr>
    </p:bg>
    <p:spTree>
      <p:nvGrpSpPr>
        <p:cNvPr id="1" name=""/>
        <p:cNvGrpSpPr/>
        <p:nvPr/>
      </p:nvGrpSpPr>
      <p:grpSpPr>
        <a:xfrm>
          <a:off x="0" y="0"/>
          <a:ext cx="0" cy="0"/>
          <a:chOff x="0" y="0"/>
          <a:chExt cx="0" cy="0"/>
        </a:xfrm>
      </p:grpSpPr>
      <p:sp>
        <p:nvSpPr>
          <p:cNvPr id="2" name="Shape 0"/>
          <p:cNvSpPr/>
          <p:nvPr/>
        </p:nvSpPr>
        <p:spPr>
          <a:xfrm>
            <a:off x="9601200" y="3474720"/>
            <a:ext cx="5029200" cy="5029200"/>
          </a:xfrm>
          <a:prstGeom prst="ellipse">
            <a:avLst/>
          </a:prstGeom>
          <a:solidFill>
            <a:srgbClr val="1F6F4A">
              <a:alpha val="30000"/>
            </a:srgbClr>
          </a:solidFill>
          <a:ln/>
        </p:spPr>
      </p:sp>
      <p:sp>
        <p:nvSpPr>
          <p:cNvPr id="3" name="Shape 1"/>
          <p:cNvSpPr/>
          <p:nvPr/>
        </p:nvSpPr>
        <p:spPr>
          <a:xfrm>
            <a:off x="-2011680" y="-2011680"/>
            <a:ext cx="4114800" cy="4114800"/>
          </a:xfrm>
          <a:prstGeom prst="ellipse">
            <a:avLst/>
          </a:prstGeom>
          <a:solidFill>
            <a:srgbClr val="D98E30">
              <a:alpha val="15000"/>
            </a:srgbClr>
          </a:solidFill>
          <a:ln/>
        </p:spPr>
      </p:sp>
      <p:pic>
        <p:nvPicPr>
          <p:cNvPr id="4" name="Image 0" descr="icons/seedling_E0A458.png"/>
          <p:cNvPicPr>
            <a:picLocks noChangeAspect="1"/>
          </p:cNvPicPr>
          <p:nvPr/>
        </p:nvPicPr>
        <p:blipFill>
          <a:blip r:embed="rId3"/>
          <a:stretch>
            <a:fillRect/>
          </a:stretch>
        </p:blipFill>
        <p:spPr>
          <a:xfrm>
            <a:off x="822960" y="1965960"/>
            <a:ext cx="640080" cy="640080"/>
          </a:xfrm>
          <a:prstGeom prst="rect">
            <a:avLst/>
          </a:prstGeom>
        </p:spPr>
      </p:pic>
      <p:sp>
        <p:nvSpPr>
          <p:cNvPr id="5" name="Text 2"/>
          <p:cNvSpPr/>
          <p:nvPr/>
        </p:nvSpPr>
        <p:spPr>
          <a:xfrm>
            <a:off x="777240" y="2743200"/>
            <a:ext cx="8229600" cy="1097280"/>
          </a:xfrm>
          <a:prstGeom prst="rect">
            <a:avLst/>
          </a:prstGeom>
          <a:noFill/>
          <a:ln/>
        </p:spPr>
        <p:txBody>
          <a:bodyPr wrap="square" rtlCol="0" anchor="ctr"/>
          <a:lstStyle/>
          <a:p>
            <a:pPr marL="0" indent="0">
              <a:buNone/>
            </a:pPr>
            <a:r>
              <a:rPr lang="en-US" sz="4600" b="1">
                <a:solidFill>
                  <a:srgbClr val="FFFFFF"/>
                </a:solidFill>
                <a:latin typeface="Cambria" pitchFamily="34" charset="0"/>
                <a:ea typeface="Cambria" pitchFamily="34" charset="-122"/>
                <a:cs typeface="Cambria" pitchFamily="34" charset="-120"/>
              </a:rPr>
              <a:t>Thank You</a:t>
            </a:r>
            <a:endParaRPr lang="en-US" sz="4600"/>
          </a:p>
        </p:txBody>
      </p:sp>
      <p:sp>
        <p:nvSpPr>
          <p:cNvPr id="6" name="Text 3"/>
          <p:cNvSpPr/>
          <p:nvPr/>
        </p:nvSpPr>
        <p:spPr>
          <a:xfrm>
            <a:off x="822960" y="3794760"/>
            <a:ext cx="7315200" cy="548640"/>
          </a:xfrm>
          <a:prstGeom prst="rect">
            <a:avLst/>
          </a:prstGeom>
          <a:noFill/>
          <a:ln/>
        </p:spPr>
        <p:txBody>
          <a:bodyPr wrap="square" rtlCol="0" anchor="ctr"/>
          <a:lstStyle/>
          <a:p>
            <a:pPr marL="0" indent="0">
              <a:buNone/>
            </a:pPr>
            <a:r>
              <a:rPr lang="en-US" sz="2000" i="1">
                <a:solidFill>
                  <a:srgbClr val="CFE3D8"/>
                </a:solidFill>
                <a:latin typeface="Calibri" pitchFamily="34" charset="0"/>
                <a:ea typeface="Calibri" pitchFamily="34" charset="-122"/>
                <a:cs typeface="Calibri" pitchFamily="34" charset="-120"/>
              </a:rPr>
              <a:t>Questions &amp; Discussion</a:t>
            </a:r>
            <a:endParaRPr lang="en-US" sz="2000"/>
          </a:p>
        </p:txBody>
      </p:sp>
      <p:sp>
        <p:nvSpPr>
          <p:cNvPr id="7" name="Shape 4"/>
          <p:cNvSpPr/>
          <p:nvPr/>
        </p:nvSpPr>
        <p:spPr>
          <a:xfrm>
            <a:off x="822960" y="4572000"/>
            <a:ext cx="2743200" cy="0"/>
          </a:xfrm>
          <a:prstGeom prst="line">
            <a:avLst/>
          </a:prstGeom>
          <a:noFill/>
          <a:ln w="12700">
            <a:solidFill>
              <a:srgbClr val="3C7A5B"/>
            </a:solidFill>
            <a:prstDash val="solid"/>
          </a:ln>
        </p:spPr>
      </p:sp>
      <p:sp>
        <p:nvSpPr>
          <p:cNvPr id="8" name="Text 5"/>
          <p:cNvSpPr/>
          <p:nvPr/>
        </p:nvSpPr>
        <p:spPr>
          <a:xfrm>
            <a:off x="822960" y="4754880"/>
            <a:ext cx="7315200" cy="731520"/>
          </a:xfrm>
          <a:prstGeom prst="rect">
            <a:avLst/>
          </a:prstGeom>
          <a:noFill/>
          <a:ln/>
        </p:spPr>
        <p:txBody>
          <a:bodyPr wrap="square" rtlCol="0" anchor="ctr"/>
          <a:lstStyle/>
          <a:p>
            <a:pPr marL="0" indent="0">
              <a:lnSpc>
                <a:spcPct val="120000"/>
              </a:lnSpc>
              <a:buNone/>
            </a:pPr>
            <a:r>
              <a:rPr lang="en-US" sz="1200">
                <a:solidFill>
                  <a:srgbClr val="9FB8AB"/>
                </a:solidFill>
                <a:latin typeface="Calibri" pitchFamily="34" charset="0"/>
                <a:ea typeface="Calibri" pitchFamily="34" charset="-122"/>
                <a:cs typeface="Calibri" pitchFamily="34" charset="-120"/>
              </a:rPr>
              <a:t>Advancing Circular Economy Practices in Agricultural Waste Management</a:t>
            </a:r>
            <a:endParaRPr lang="en-US" sz="1200"/>
          </a:p>
          <a:p>
            <a:pPr marL="0" indent="0">
              <a:lnSpc>
                <a:spcPct val="120000"/>
              </a:lnSpc>
              <a:buNone/>
            </a:pPr>
            <a:r>
              <a:rPr lang="en-US" sz="1200">
                <a:solidFill>
                  <a:srgbClr val="9FB8AB"/>
                </a:solidFill>
                <a:latin typeface="Calibri" pitchFamily="34" charset="0"/>
                <a:ea typeface="Calibri" pitchFamily="34" charset="-122"/>
                <a:cs typeface="Calibri" pitchFamily="34" charset="-120"/>
              </a:rPr>
              <a:t>Across Selected African Countries</a:t>
            </a:r>
            <a:endParaRPr lang="en-US"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e1505c6-0ed1-4c64-9548-27e65d7bfbe9" xsi:nil="true"/>
    <lcf76f155ced4ddcb4097134ff3c332f xmlns="c528fbbf-fd73-470a-b148-5f3c2f175ea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00656D264F44B46BFCAD9AF06156600" ma:contentTypeVersion="10" ma:contentTypeDescription="Create a new document." ma:contentTypeScope="" ma:versionID="a2d1077d7c4bfc0d82f7ef9838dd9959">
  <xsd:schema xmlns:xsd="http://www.w3.org/2001/XMLSchema" xmlns:xs="http://www.w3.org/2001/XMLSchema" xmlns:p="http://schemas.microsoft.com/office/2006/metadata/properties" xmlns:ns2="c528fbbf-fd73-470a-b148-5f3c2f175ea4" xmlns:ns3="0e1505c6-0ed1-4c64-9548-27e65d7bfbe9" targetNamespace="http://schemas.microsoft.com/office/2006/metadata/properties" ma:root="true" ma:fieldsID="561d55c43b2c508cbc6413dfd2b22927" ns2:_="" ns3:_="">
    <xsd:import namespace="c528fbbf-fd73-470a-b148-5f3c2f175ea4"/>
    <xsd:import namespace="0e1505c6-0ed1-4c64-9548-27e65d7bfbe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28fbbf-fd73-470a-b148-5f3c2f175e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d82563b-0873-4153-b60d-32ffd6f0d13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1505c6-0ed1-4c64-9548-27e65d7bfbe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539f446-a949-42c3-ab58-e2c07aed2aa2}" ma:internalName="TaxCatchAll" ma:showField="CatchAllData" ma:web="0e1505c6-0ed1-4c64-9548-27e65d7bfb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FAB25A-2A50-4208-A8AF-18F01CA906B7}">
  <ds:schemaRefs>
    <ds:schemaRef ds:uri="0e1505c6-0ed1-4c64-9548-27e65d7bfbe9"/>
    <ds:schemaRef ds:uri="c528fbbf-fd73-470a-b148-5f3c2f175ea4"/>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49EF6B9-3112-480E-BEA4-1357FBAEA0B0}">
  <ds:schemaRefs>
    <ds:schemaRef ds:uri="http://schemas.microsoft.com/sharepoint/v3/contenttype/forms"/>
  </ds:schemaRefs>
</ds:datastoreItem>
</file>

<file path=customXml/itemProps3.xml><?xml version="1.0" encoding="utf-8"?>
<ds:datastoreItem xmlns:ds="http://schemas.openxmlformats.org/officeDocument/2006/customXml" ds:itemID="{A257FD1E-2B4C-4D60-855D-981B373530F6}">
  <ds:schemaRefs>
    <ds:schemaRef ds:uri="0e1505c6-0ed1-4c64-9548-27e65d7bfbe9"/>
    <ds:schemaRef ds:uri="c528fbbf-fd73-470a-b148-5f3c2f175e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1684</Words>
  <Application>Microsoft Office PowerPoint</Application>
  <PresentationFormat>Widescreen</PresentationFormat>
  <Paragraphs>243</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Advancing Circular Economy Practices in Agricultural Waste Management</dc:title>
  <dc:subject>PptxGenJS Presentation</dc:subject>
  <dc:creator>Capstone Team</dc:creator>
  <cp:lastModifiedBy>Gloria</cp:lastModifiedBy>
  <cp:revision>3</cp:revision>
  <dcterms:created xsi:type="dcterms:W3CDTF">2026-07-06T23:59:29Z</dcterms:created>
  <dcterms:modified xsi:type="dcterms:W3CDTF">2026-07-07T22:47:27Z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0x010100F00656D264F44B46BFCAD9AF06156600</vt:lpwstr>
  </property>
  <property fmtid="{D5CDD505-2E9C-101B-9397-08002B2CF9AE}" pid="3" name="MediaServiceImageTags">
    <vt:lpwstr/>
  </property>
</Properties>
</file>